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26"/>
  </p:notesMasterIdLst>
  <p:sldIdLst>
    <p:sldId id="256" r:id="rId2"/>
    <p:sldId id="258" r:id="rId3"/>
    <p:sldId id="313" r:id="rId4"/>
    <p:sldId id="314" r:id="rId5"/>
    <p:sldId id="315" r:id="rId6"/>
    <p:sldId id="316" r:id="rId7"/>
    <p:sldId id="317" r:id="rId8"/>
    <p:sldId id="257" r:id="rId9"/>
    <p:sldId id="320" r:id="rId10"/>
    <p:sldId id="318" r:id="rId11"/>
    <p:sldId id="319" r:id="rId12"/>
    <p:sldId id="267" r:id="rId13"/>
    <p:sldId id="266" r:id="rId14"/>
    <p:sldId id="322" r:id="rId15"/>
    <p:sldId id="261" r:id="rId16"/>
    <p:sldId id="323" r:id="rId17"/>
    <p:sldId id="324" r:id="rId18"/>
    <p:sldId id="325" r:id="rId19"/>
    <p:sldId id="326" r:id="rId20"/>
    <p:sldId id="327" r:id="rId21"/>
    <p:sldId id="328" r:id="rId22"/>
    <p:sldId id="330" r:id="rId23"/>
    <p:sldId id="329" r:id="rId24"/>
    <p:sldId id="290" r:id="rId25"/>
  </p:sldIdLst>
  <p:sldSz cx="9144000" cy="5143500" type="screen16x9"/>
  <p:notesSz cx="6858000" cy="9144000"/>
  <p:embeddedFontLst>
    <p:embeddedFont>
      <p:font typeface="Akatab" panose="020B0604020202020204" charset="0"/>
      <p:regular r:id="rId27"/>
      <p:bold r:id="rId28"/>
    </p:embeddedFont>
    <p:embeddedFont>
      <p:font typeface="Cambria Math" panose="02040503050406030204" pitchFamily="18" charset="0"/>
      <p:regular r:id="rId29"/>
    </p:embeddedFont>
    <p:embeddedFont>
      <p:font typeface="Noto Serif Ethiopic" panose="020B0604020202020204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B00"/>
    <a:srgbClr val="7F0404"/>
    <a:srgbClr val="4D14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FCF28DC-DEE4-481E-A94D-893439FE2D8F}">
  <a:tblStyle styleId="{AFCF28DC-DEE4-481E-A94D-893439FE2D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5a5b44800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25a5b44800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5a5b44800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5a5b44800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59dc3832df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259dc3832df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7162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59dc3832df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259dc3832df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19835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59dc3832df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259dc3832df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2164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59dc3832df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259dc3832df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30766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5a78353f55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25a78353f55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066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59dc3832df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259dc3832df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5a78353f55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25a78353f55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92901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5a78353f55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25a78353f55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89451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5a78353f55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25a78353f55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28783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5a78353f55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25a78353f55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25a78353f55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25a78353f55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5a78353f55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25a78353f55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49719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259dc3832df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259dc3832df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259dc3832df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259dc3832df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29660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25a78353f55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25a78353f55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88710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25a78353f55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25a78353f55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16106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25a78353f55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25a78353f55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14858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25a78353f55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25a78353f55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39343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5a78353f55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25a78353f55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73322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>
          <a:extLst>
            <a:ext uri="{FF2B5EF4-FFF2-40B4-BE49-F238E27FC236}">
              <a16:creationId xmlns:a16="http://schemas.microsoft.com/office/drawing/2014/main" id="{3D487281-D0E3-1D56-5CB2-B06105819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5a78353f55_0_47:notes">
            <a:extLst>
              <a:ext uri="{FF2B5EF4-FFF2-40B4-BE49-F238E27FC236}">
                <a16:creationId xmlns:a16="http://schemas.microsoft.com/office/drawing/2014/main" id="{5F45C61D-4917-2B8C-817A-44DDC49C88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25a78353f55_0_47:notes">
            <a:extLst>
              <a:ext uri="{FF2B5EF4-FFF2-40B4-BE49-F238E27FC236}">
                <a16:creationId xmlns:a16="http://schemas.microsoft.com/office/drawing/2014/main" id="{D6EEA153-E544-8CED-D7BF-661FC8089E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05710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5a78353f55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25a78353f55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27884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25a78353f55_0_280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25a78353f55_0_280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rgbClr val="7F040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251700" y="1050088"/>
            <a:ext cx="4890300" cy="19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251700" y="3040063"/>
            <a:ext cx="48903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rgbClr val="7F040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21" name="Google Shape;21;p4"/>
          <p:cNvGrpSpPr/>
          <p:nvPr/>
        </p:nvGrpSpPr>
        <p:grpSpPr>
          <a:xfrm flipH="1">
            <a:off x="435875" y="1292300"/>
            <a:ext cx="90900" cy="3705900"/>
            <a:chOff x="7952125" y="1292300"/>
            <a:chExt cx="90900" cy="3705900"/>
          </a:xfrm>
          <a:solidFill>
            <a:srgbClr val="F4BB00"/>
          </a:solidFill>
        </p:grpSpPr>
        <p:sp>
          <p:nvSpPr>
            <p:cNvPr id="22" name="Google Shape;22;p4"/>
            <p:cNvSpPr/>
            <p:nvPr/>
          </p:nvSpPr>
          <p:spPr>
            <a:xfrm rot="5400000">
              <a:off x="7744975" y="1499450"/>
              <a:ext cx="505200" cy="90900"/>
            </a:xfrm>
            <a:prstGeom prst="rect">
              <a:avLst/>
            </a:prstGeom>
            <a:grpFill/>
            <a:ln>
              <a:solidFill>
                <a:srgbClr val="F4BB0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3" name="Google Shape;23;p4"/>
            <p:cNvCxnSpPr/>
            <p:nvPr/>
          </p:nvCxnSpPr>
          <p:spPr>
            <a:xfrm>
              <a:off x="8043025" y="1292300"/>
              <a:ext cx="0" cy="3705900"/>
            </a:xfrm>
            <a:prstGeom prst="straightConnector1">
              <a:avLst/>
            </a:prstGeom>
            <a:grpFill/>
            <a:ln w="9525" cap="flat" cmpd="sng">
              <a:solidFill>
                <a:srgbClr val="F4BB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" name="Google Shape;24;p4"/>
          <p:cNvGrpSpPr/>
          <p:nvPr/>
        </p:nvGrpSpPr>
        <p:grpSpPr>
          <a:xfrm rot="10800000">
            <a:off x="8617225" y="97275"/>
            <a:ext cx="90900" cy="3705900"/>
            <a:chOff x="7952125" y="1292300"/>
            <a:chExt cx="90900" cy="3705900"/>
          </a:xfrm>
          <a:solidFill>
            <a:srgbClr val="F4BB00"/>
          </a:solidFill>
        </p:grpSpPr>
        <p:sp>
          <p:nvSpPr>
            <p:cNvPr id="25" name="Google Shape;25;p4"/>
            <p:cNvSpPr/>
            <p:nvPr/>
          </p:nvSpPr>
          <p:spPr>
            <a:xfrm rot="5400000">
              <a:off x="7744975" y="1499450"/>
              <a:ext cx="505200" cy="90900"/>
            </a:xfrm>
            <a:prstGeom prst="rect">
              <a:avLst/>
            </a:prstGeom>
            <a:grpFill/>
            <a:ln>
              <a:solidFill>
                <a:srgbClr val="F4BB0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6" name="Google Shape;26;p4"/>
            <p:cNvCxnSpPr/>
            <p:nvPr/>
          </p:nvCxnSpPr>
          <p:spPr>
            <a:xfrm>
              <a:off x="8043025" y="1292300"/>
              <a:ext cx="0" cy="3705900"/>
            </a:xfrm>
            <a:prstGeom prst="straightConnector1">
              <a:avLst/>
            </a:prstGeom>
            <a:grpFill/>
            <a:ln w="9525" cap="flat" cmpd="sng">
              <a:solidFill>
                <a:srgbClr val="F4BB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rgbClr val="7F040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1"/>
          </p:nvPr>
        </p:nvSpPr>
        <p:spPr>
          <a:xfrm>
            <a:off x="1938000" y="1571850"/>
            <a:ext cx="5268000" cy="12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2"/>
          </p:nvPr>
        </p:nvSpPr>
        <p:spPr>
          <a:xfrm>
            <a:off x="1938000" y="3033474"/>
            <a:ext cx="5268000" cy="12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2" name="Google Shape;32;p5"/>
          <p:cNvGrpSpPr/>
          <p:nvPr/>
        </p:nvGrpSpPr>
        <p:grpSpPr>
          <a:xfrm>
            <a:off x="165700" y="1292300"/>
            <a:ext cx="8349200" cy="3705900"/>
            <a:chOff x="165700" y="1292300"/>
            <a:chExt cx="8349200" cy="3705900"/>
          </a:xfrm>
          <a:solidFill>
            <a:srgbClr val="F4BB00"/>
          </a:solidFill>
        </p:grpSpPr>
        <p:grpSp>
          <p:nvGrpSpPr>
            <p:cNvPr id="33" name="Google Shape;33;p5"/>
            <p:cNvGrpSpPr/>
            <p:nvPr/>
          </p:nvGrpSpPr>
          <p:grpSpPr>
            <a:xfrm rot="10800000">
              <a:off x="165700" y="4608500"/>
              <a:ext cx="7941000" cy="90900"/>
              <a:chOff x="1239825" y="571500"/>
              <a:chExt cx="7941000" cy="90900"/>
            </a:xfrm>
            <a:grpFill/>
          </p:grpSpPr>
          <p:cxnSp>
            <p:nvCxnSpPr>
              <p:cNvPr id="34" name="Google Shape;34;p5"/>
              <p:cNvCxnSpPr/>
              <p:nvPr/>
            </p:nvCxnSpPr>
            <p:spPr>
              <a:xfrm>
                <a:off x="1239825" y="571500"/>
                <a:ext cx="7941000" cy="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F4BB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5" name="Google Shape;35;p5"/>
              <p:cNvSpPr/>
              <p:nvPr/>
            </p:nvSpPr>
            <p:spPr>
              <a:xfrm>
                <a:off x="1239825" y="571500"/>
                <a:ext cx="505200" cy="90900"/>
              </a:xfrm>
              <a:prstGeom prst="rect">
                <a:avLst/>
              </a:prstGeom>
              <a:grpFill/>
              <a:ln>
                <a:solidFill>
                  <a:srgbClr val="F4BB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" name="Google Shape;36;p5"/>
            <p:cNvGrpSpPr/>
            <p:nvPr/>
          </p:nvGrpSpPr>
          <p:grpSpPr>
            <a:xfrm flipH="1">
              <a:off x="8424000" y="1292300"/>
              <a:ext cx="90900" cy="3705900"/>
              <a:chOff x="7952125" y="1292300"/>
              <a:chExt cx="90900" cy="3705900"/>
            </a:xfrm>
            <a:grpFill/>
          </p:grpSpPr>
          <p:sp>
            <p:nvSpPr>
              <p:cNvPr id="37" name="Google Shape;37;p5"/>
              <p:cNvSpPr/>
              <p:nvPr/>
            </p:nvSpPr>
            <p:spPr>
              <a:xfrm rot="5400000">
                <a:off x="7744975" y="1499450"/>
                <a:ext cx="505200" cy="90900"/>
              </a:xfrm>
              <a:prstGeom prst="rect">
                <a:avLst/>
              </a:prstGeom>
              <a:grpFill/>
              <a:ln>
                <a:solidFill>
                  <a:srgbClr val="F4BB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8" name="Google Shape;38;p5"/>
              <p:cNvCxnSpPr/>
              <p:nvPr/>
            </p:nvCxnSpPr>
            <p:spPr>
              <a:xfrm>
                <a:off x="8043025" y="1292300"/>
                <a:ext cx="0" cy="37059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F4BB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rgbClr val="7F040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hasCustomPrompt="1"/>
          </p:nvPr>
        </p:nvSpPr>
        <p:spPr>
          <a:xfrm>
            <a:off x="1245650" y="1073400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720000" y="2211355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2" hasCustomPrompt="1"/>
          </p:nvPr>
        </p:nvSpPr>
        <p:spPr>
          <a:xfrm>
            <a:off x="3931900" y="1073400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3"/>
          </p:nvPr>
        </p:nvSpPr>
        <p:spPr>
          <a:xfrm>
            <a:off x="3403800" y="2211355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4" hasCustomPrompt="1"/>
          </p:nvPr>
        </p:nvSpPr>
        <p:spPr>
          <a:xfrm>
            <a:off x="6623050" y="1073400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5"/>
          </p:nvPr>
        </p:nvSpPr>
        <p:spPr>
          <a:xfrm>
            <a:off x="6087600" y="2211355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6" hasCustomPrompt="1"/>
          </p:nvPr>
        </p:nvSpPr>
        <p:spPr>
          <a:xfrm>
            <a:off x="2590000" y="282452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7"/>
          </p:nvPr>
        </p:nvSpPr>
        <p:spPr>
          <a:xfrm>
            <a:off x="2064350" y="3970706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8" hasCustomPrompt="1"/>
          </p:nvPr>
        </p:nvSpPr>
        <p:spPr>
          <a:xfrm>
            <a:off x="5276250" y="282452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9"/>
          </p:nvPr>
        </p:nvSpPr>
        <p:spPr>
          <a:xfrm>
            <a:off x="4748150" y="3970706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13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14"/>
          </p:nvPr>
        </p:nvSpPr>
        <p:spPr>
          <a:xfrm>
            <a:off x="715100" y="1590600"/>
            <a:ext cx="2336400" cy="717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0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15"/>
          </p:nvPr>
        </p:nvSpPr>
        <p:spPr>
          <a:xfrm>
            <a:off x="3403800" y="1590600"/>
            <a:ext cx="2336400" cy="717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0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6"/>
          </p:nvPr>
        </p:nvSpPr>
        <p:spPr>
          <a:xfrm>
            <a:off x="6092500" y="1590600"/>
            <a:ext cx="2336400" cy="717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0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7"/>
          </p:nvPr>
        </p:nvSpPr>
        <p:spPr>
          <a:xfrm>
            <a:off x="2059450" y="3350000"/>
            <a:ext cx="2336400" cy="717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0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18"/>
          </p:nvPr>
        </p:nvSpPr>
        <p:spPr>
          <a:xfrm>
            <a:off x="4748150" y="3350000"/>
            <a:ext cx="2336400" cy="717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0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grpSp>
        <p:nvGrpSpPr>
          <p:cNvPr id="101" name="Google Shape;101;p13"/>
          <p:cNvGrpSpPr/>
          <p:nvPr/>
        </p:nvGrpSpPr>
        <p:grpSpPr>
          <a:xfrm rot="10800000">
            <a:off x="165548" y="4684694"/>
            <a:ext cx="6506400" cy="90900"/>
            <a:chOff x="1239825" y="571500"/>
            <a:chExt cx="6506400" cy="90900"/>
          </a:xfrm>
          <a:solidFill>
            <a:srgbClr val="F4BB00"/>
          </a:solidFill>
        </p:grpSpPr>
        <p:cxnSp>
          <p:nvCxnSpPr>
            <p:cNvPr id="102" name="Google Shape;102;p13"/>
            <p:cNvCxnSpPr/>
            <p:nvPr/>
          </p:nvCxnSpPr>
          <p:spPr>
            <a:xfrm>
              <a:off x="1239825" y="571500"/>
              <a:ext cx="6506400" cy="0"/>
            </a:xfrm>
            <a:prstGeom prst="straightConnector1">
              <a:avLst/>
            </a:prstGeom>
            <a:grpFill/>
            <a:ln w="9525" cap="flat" cmpd="sng">
              <a:solidFill>
                <a:srgbClr val="F4BB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3" name="Google Shape;103;p13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grpFill/>
            <a:ln>
              <a:solidFill>
                <a:srgbClr val="F4BB0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9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rgbClr val="7F040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9"/>
          <p:cNvSpPr txBox="1">
            <a:spLocks noGrp="1"/>
          </p:cNvSpPr>
          <p:nvPr>
            <p:ph type="subTitle" idx="1"/>
          </p:nvPr>
        </p:nvSpPr>
        <p:spPr>
          <a:xfrm>
            <a:off x="2347929" y="1532925"/>
            <a:ext cx="1888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sp>
        <p:nvSpPr>
          <p:cNvPr id="257" name="Google Shape;257;p29"/>
          <p:cNvSpPr txBox="1">
            <a:spLocks noGrp="1"/>
          </p:cNvSpPr>
          <p:nvPr>
            <p:ph type="subTitle" idx="2"/>
          </p:nvPr>
        </p:nvSpPr>
        <p:spPr>
          <a:xfrm>
            <a:off x="2347912" y="2017725"/>
            <a:ext cx="1888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29"/>
          <p:cNvSpPr txBox="1">
            <a:spLocks noGrp="1"/>
          </p:cNvSpPr>
          <p:nvPr>
            <p:ph type="subTitle" idx="3"/>
          </p:nvPr>
        </p:nvSpPr>
        <p:spPr>
          <a:xfrm>
            <a:off x="4907276" y="2017725"/>
            <a:ext cx="1888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29"/>
          <p:cNvSpPr txBox="1">
            <a:spLocks noGrp="1"/>
          </p:cNvSpPr>
          <p:nvPr>
            <p:ph type="subTitle" idx="4"/>
          </p:nvPr>
        </p:nvSpPr>
        <p:spPr>
          <a:xfrm>
            <a:off x="2347921" y="3407650"/>
            <a:ext cx="1888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29"/>
          <p:cNvSpPr txBox="1">
            <a:spLocks noGrp="1"/>
          </p:cNvSpPr>
          <p:nvPr>
            <p:ph type="subTitle" idx="5"/>
          </p:nvPr>
        </p:nvSpPr>
        <p:spPr>
          <a:xfrm>
            <a:off x="4907284" y="3407650"/>
            <a:ext cx="1888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29"/>
          <p:cNvSpPr txBox="1">
            <a:spLocks noGrp="1"/>
          </p:cNvSpPr>
          <p:nvPr>
            <p:ph type="subTitle" idx="6"/>
          </p:nvPr>
        </p:nvSpPr>
        <p:spPr>
          <a:xfrm>
            <a:off x="2347929" y="2922850"/>
            <a:ext cx="1888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sp>
        <p:nvSpPr>
          <p:cNvPr id="263" name="Google Shape;263;p29"/>
          <p:cNvSpPr txBox="1">
            <a:spLocks noGrp="1"/>
          </p:cNvSpPr>
          <p:nvPr>
            <p:ph type="subTitle" idx="7"/>
          </p:nvPr>
        </p:nvSpPr>
        <p:spPr>
          <a:xfrm>
            <a:off x="4907291" y="1532925"/>
            <a:ext cx="1888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sp>
        <p:nvSpPr>
          <p:cNvPr id="264" name="Google Shape;264;p29"/>
          <p:cNvSpPr txBox="1">
            <a:spLocks noGrp="1"/>
          </p:cNvSpPr>
          <p:nvPr>
            <p:ph type="subTitle" idx="8"/>
          </p:nvPr>
        </p:nvSpPr>
        <p:spPr>
          <a:xfrm>
            <a:off x="4907291" y="2922850"/>
            <a:ext cx="1888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grpSp>
        <p:nvGrpSpPr>
          <p:cNvPr id="265" name="Google Shape;265;p29"/>
          <p:cNvGrpSpPr/>
          <p:nvPr/>
        </p:nvGrpSpPr>
        <p:grpSpPr>
          <a:xfrm>
            <a:off x="629100" y="1292300"/>
            <a:ext cx="8343450" cy="3705900"/>
            <a:chOff x="629100" y="1292300"/>
            <a:chExt cx="8343450" cy="3705900"/>
          </a:xfrm>
          <a:solidFill>
            <a:srgbClr val="F4BB00"/>
          </a:solidFill>
        </p:grpSpPr>
        <p:grpSp>
          <p:nvGrpSpPr>
            <p:cNvPr id="266" name="Google Shape;266;p29"/>
            <p:cNvGrpSpPr/>
            <p:nvPr/>
          </p:nvGrpSpPr>
          <p:grpSpPr>
            <a:xfrm rot="10800000" flipH="1">
              <a:off x="1031550" y="4608500"/>
              <a:ext cx="7941000" cy="90900"/>
              <a:chOff x="1239825" y="571500"/>
              <a:chExt cx="7941000" cy="90900"/>
            </a:xfrm>
            <a:grpFill/>
          </p:grpSpPr>
          <p:cxnSp>
            <p:nvCxnSpPr>
              <p:cNvPr id="267" name="Google Shape;267;p29"/>
              <p:cNvCxnSpPr/>
              <p:nvPr/>
            </p:nvCxnSpPr>
            <p:spPr>
              <a:xfrm>
                <a:off x="1239825" y="571500"/>
                <a:ext cx="7941000" cy="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F4BB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68" name="Google Shape;268;p29"/>
              <p:cNvSpPr/>
              <p:nvPr/>
            </p:nvSpPr>
            <p:spPr>
              <a:xfrm>
                <a:off x="1239825" y="571500"/>
                <a:ext cx="505200" cy="90900"/>
              </a:xfrm>
              <a:prstGeom prst="rect">
                <a:avLst/>
              </a:prstGeom>
              <a:grpFill/>
              <a:ln>
                <a:solidFill>
                  <a:srgbClr val="F4BB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9" name="Google Shape;269;p29"/>
            <p:cNvGrpSpPr/>
            <p:nvPr/>
          </p:nvGrpSpPr>
          <p:grpSpPr>
            <a:xfrm flipH="1">
              <a:off x="629100" y="1292300"/>
              <a:ext cx="90900" cy="3705900"/>
              <a:chOff x="7952125" y="1292300"/>
              <a:chExt cx="90900" cy="3705900"/>
            </a:xfrm>
            <a:grpFill/>
          </p:grpSpPr>
          <p:sp>
            <p:nvSpPr>
              <p:cNvPr id="270" name="Google Shape;270;p29"/>
              <p:cNvSpPr/>
              <p:nvPr/>
            </p:nvSpPr>
            <p:spPr>
              <a:xfrm rot="5400000">
                <a:off x="7744975" y="1499450"/>
                <a:ext cx="505200" cy="90900"/>
              </a:xfrm>
              <a:prstGeom prst="rect">
                <a:avLst/>
              </a:prstGeom>
              <a:grpFill/>
              <a:ln>
                <a:solidFill>
                  <a:srgbClr val="F4BB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71" name="Google Shape;271;p29"/>
              <p:cNvCxnSpPr/>
              <p:nvPr/>
            </p:nvCxnSpPr>
            <p:spPr>
              <a:xfrm>
                <a:off x="8043025" y="1292300"/>
                <a:ext cx="0" cy="37059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F4BB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1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rgbClr val="7F040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31"/>
          <p:cNvSpPr txBox="1">
            <a:spLocks noGrp="1"/>
          </p:cNvSpPr>
          <p:nvPr>
            <p:ph type="subTitle" idx="1"/>
          </p:nvPr>
        </p:nvSpPr>
        <p:spPr>
          <a:xfrm>
            <a:off x="1438125" y="2291499"/>
            <a:ext cx="1900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31"/>
          <p:cNvSpPr txBox="1">
            <a:spLocks noGrp="1"/>
          </p:cNvSpPr>
          <p:nvPr>
            <p:ph type="subTitle" idx="2"/>
          </p:nvPr>
        </p:nvSpPr>
        <p:spPr>
          <a:xfrm>
            <a:off x="3621606" y="2291499"/>
            <a:ext cx="1900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31"/>
          <p:cNvSpPr txBox="1">
            <a:spLocks noGrp="1"/>
          </p:cNvSpPr>
          <p:nvPr>
            <p:ph type="subTitle" idx="3"/>
          </p:nvPr>
        </p:nvSpPr>
        <p:spPr>
          <a:xfrm>
            <a:off x="5805086" y="2291499"/>
            <a:ext cx="1900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31"/>
          <p:cNvSpPr txBox="1">
            <a:spLocks noGrp="1"/>
          </p:cNvSpPr>
          <p:nvPr>
            <p:ph type="subTitle" idx="4"/>
          </p:nvPr>
        </p:nvSpPr>
        <p:spPr>
          <a:xfrm>
            <a:off x="1438125" y="3560575"/>
            <a:ext cx="1900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31"/>
          <p:cNvSpPr txBox="1">
            <a:spLocks noGrp="1"/>
          </p:cNvSpPr>
          <p:nvPr>
            <p:ph type="subTitle" idx="5"/>
          </p:nvPr>
        </p:nvSpPr>
        <p:spPr>
          <a:xfrm>
            <a:off x="3621606" y="3560575"/>
            <a:ext cx="1900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31"/>
          <p:cNvSpPr txBox="1">
            <a:spLocks noGrp="1"/>
          </p:cNvSpPr>
          <p:nvPr>
            <p:ph type="subTitle" idx="6"/>
          </p:nvPr>
        </p:nvSpPr>
        <p:spPr>
          <a:xfrm>
            <a:off x="5805086" y="3560575"/>
            <a:ext cx="1900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31"/>
          <p:cNvSpPr txBox="1">
            <a:spLocks noGrp="1"/>
          </p:cNvSpPr>
          <p:nvPr>
            <p:ph type="subTitle" idx="7"/>
          </p:nvPr>
        </p:nvSpPr>
        <p:spPr>
          <a:xfrm>
            <a:off x="1434138" y="1806700"/>
            <a:ext cx="1900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sp>
        <p:nvSpPr>
          <p:cNvPr id="298" name="Google Shape;298;p31"/>
          <p:cNvSpPr txBox="1">
            <a:spLocks noGrp="1"/>
          </p:cNvSpPr>
          <p:nvPr>
            <p:ph type="subTitle" idx="8"/>
          </p:nvPr>
        </p:nvSpPr>
        <p:spPr>
          <a:xfrm>
            <a:off x="3621606" y="1806700"/>
            <a:ext cx="1900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sp>
        <p:nvSpPr>
          <p:cNvPr id="299" name="Google Shape;299;p31"/>
          <p:cNvSpPr txBox="1">
            <a:spLocks noGrp="1"/>
          </p:cNvSpPr>
          <p:nvPr>
            <p:ph type="subTitle" idx="9"/>
          </p:nvPr>
        </p:nvSpPr>
        <p:spPr>
          <a:xfrm>
            <a:off x="5809073" y="1806700"/>
            <a:ext cx="1900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sp>
        <p:nvSpPr>
          <p:cNvPr id="300" name="Google Shape;300;p31"/>
          <p:cNvSpPr txBox="1">
            <a:spLocks noGrp="1"/>
          </p:cNvSpPr>
          <p:nvPr>
            <p:ph type="subTitle" idx="13"/>
          </p:nvPr>
        </p:nvSpPr>
        <p:spPr>
          <a:xfrm>
            <a:off x="1434138" y="3075775"/>
            <a:ext cx="1900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sp>
        <p:nvSpPr>
          <p:cNvPr id="301" name="Google Shape;301;p31"/>
          <p:cNvSpPr txBox="1">
            <a:spLocks noGrp="1"/>
          </p:cNvSpPr>
          <p:nvPr>
            <p:ph type="subTitle" idx="14"/>
          </p:nvPr>
        </p:nvSpPr>
        <p:spPr>
          <a:xfrm>
            <a:off x="3621606" y="3075775"/>
            <a:ext cx="1900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sp>
        <p:nvSpPr>
          <p:cNvPr id="302" name="Google Shape;302;p31"/>
          <p:cNvSpPr txBox="1">
            <a:spLocks noGrp="1"/>
          </p:cNvSpPr>
          <p:nvPr>
            <p:ph type="subTitle" idx="15"/>
          </p:nvPr>
        </p:nvSpPr>
        <p:spPr>
          <a:xfrm>
            <a:off x="5809073" y="3075775"/>
            <a:ext cx="1900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grpSp>
        <p:nvGrpSpPr>
          <p:cNvPr id="303" name="Google Shape;303;p31"/>
          <p:cNvGrpSpPr/>
          <p:nvPr/>
        </p:nvGrpSpPr>
        <p:grpSpPr>
          <a:xfrm>
            <a:off x="435875" y="97275"/>
            <a:ext cx="8272250" cy="4900925"/>
            <a:chOff x="435875" y="97275"/>
            <a:chExt cx="8272250" cy="4900925"/>
          </a:xfrm>
          <a:solidFill>
            <a:srgbClr val="F4BB00"/>
          </a:solidFill>
        </p:grpSpPr>
        <p:grpSp>
          <p:nvGrpSpPr>
            <p:cNvPr id="304" name="Google Shape;304;p31"/>
            <p:cNvGrpSpPr/>
            <p:nvPr/>
          </p:nvGrpSpPr>
          <p:grpSpPr>
            <a:xfrm flipH="1">
              <a:off x="435875" y="1292300"/>
              <a:ext cx="90900" cy="3705900"/>
              <a:chOff x="7952125" y="1292300"/>
              <a:chExt cx="90900" cy="3705900"/>
            </a:xfrm>
            <a:grpFill/>
          </p:grpSpPr>
          <p:sp>
            <p:nvSpPr>
              <p:cNvPr id="305" name="Google Shape;305;p31"/>
              <p:cNvSpPr/>
              <p:nvPr/>
            </p:nvSpPr>
            <p:spPr>
              <a:xfrm rot="5400000">
                <a:off x="7744975" y="1499450"/>
                <a:ext cx="505200" cy="90900"/>
              </a:xfrm>
              <a:prstGeom prst="rect">
                <a:avLst/>
              </a:prstGeom>
              <a:grpFill/>
              <a:ln>
                <a:solidFill>
                  <a:srgbClr val="F4BB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06" name="Google Shape;306;p31"/>
              <p:cNvCxnSpPr/>
              <p:nvPr/>
            </p:nvCxnSpPr>
            <p:spPr>
              <a:xfrm>
                <a:off x="8043025" y="1292300"/>
                <a:ext cx="0" cy="37059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F4BB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07" name="Google Shape;307;p31"/>
            <p:cNvGrpSpPr/>
            <p:nvPr/>
          </p:nvGrpSpPr>
          <p:grpSpPr>
            <a:xfrm rot="10800000">
              <a:off x="8617225" y="97275"/>
              <a:ext cx="90900" cy="3705900"/>
              <a:chOff x="7952125" y="1292300"/>
              <a:chExt cx="90900" cy="3705900"/>
            </a:xfrm>
            <a:grpFill/>
          </p:grpSpPr>
          <p:sp>
            <p:nvSpPr>
              <p:cNvPr id="308" name="Google Shape;308;p31"/>
              <p:cNvSpPr/>
              <p:nvPr/>
            </p:nvSpPr>
            <p:spPr>
              <a:xfrm rot="5400000">
                <a:off x="7744975" y="1499450"/>
                <a:ext cx="505200" cy="90900"/>
              </a:xfrm>
              <a:prstGeom prst="rect">
                <a:avLst/>
              </a:prstGeom>
              <a:grpFill/>
              <a:ln>
                <a:solidFill>
                  <a:srgbClr val="F4BB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09" name="Google Shape;309;p31"/>
              <p:cNvCxnSpPr/>
              <p:nvPr/>
            </p:nvCxnSpPr>
            <p:spPr>
              <a:xfrm>
                <a:off x="8043025" y="1292300"/>
                <a:ext cx="0" cy="37059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F4BB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4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rgbClr val="7F040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4"/>
          <p:cNvSpPr txBox="1">
            <a:spLocks noGrp="1"/>
          </p:cNvSpPr>
          <p:nvPr>
            <p:ph type="ctrTitle"/>
          </p:nvPr>
        </p:nvSpPr>
        <p:spPr>
          <a:xfrm>
            <a:off x="2429925" y="876038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43" name="Google Shape;343;p34"/>
          <p:cNvSpPr txBox="1">
            <a:spLocks noGrp="1"/>
          </p:cNvSpPr>
          <p:nvPr>
            <p:ph type="subTitle" idx="1"/>
          </p:nvPr>
        </p:nvSpPr>
        <p:spPr>
          <a:xfrm>
            <a:off x="2425050" y="1910763"/>
            <a:ext cx="4293900" cy="110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345" name="Google Shape;345;p34"/>
          <p:cNvGrpSpPr/>
          <p:nvPr/>
        </p:nvGrpSpPr>
        <p:grpSpPr>
          <a:xfrm>
            <a:off x="165700" y="97275"/>
            <a:ext cx="8339575" cy="3705900"/>
            <a:chOff x="165700" y="97275"/>
            <a:chExt cx="8339575" cy="3705900"/>
          </a:xfrm>
          <a:solidFill>
            <a:srgbClr val="F4BB00"/>
          </a:solidFill>
        </p:grpSpPr>
        <p:grpSp>
          <p:nvGrpSpPr>
            <p:cNvPr id="346" name="Google Shape;346;p34"/>
            <p:cNvGrpSpPr/>
            <p:nvPr/>
          </p:nvGrpSpPr>
          <p:grpSpPr>
            <a:xfrm flipH="1">
              <a:off x="165700" y="435900"/>
              <a:ext cx="7941000" cy="90900"/>
              <a:chOff x="1239825" y="571500"/>
              <a:chExt cx="7941000" cy="90900"/>
            </a:xfrm>
            <a:grpFill/>
          </p:grpSpPr>
          <p:cxnSp>
            <p:nvCxnSpPr>
              <p:cNvPr id="347" name="Google Shape;347;p34"/>
              <p:cNvCxnSpPr/>
              <p:nvPr/>
            </p:nvCxnSpPr>
            <p:spPr>
              <a:xfrm>
                <a:off x="1239825" y="571500"/>
                <a:ext cx="7941000" cy="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F4BB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48" name="Google Shape;348;p34"/>
              <p:cNvSpPr/>
              <p:nvPr/>
            </p:nvSpPr>
            <p:spPr>
              <a:xfrm>
                <a:off x="1239825" y="571500"/>
                <a:ext cx="505200" cy="90900"/>
              </a:xfrm>
              <a:prstGeom prst="rect">
                <a:avLst/>
              </a:prstGeom>
              <a:grpFill/>
              <a:ln>
                <a:solidFill>
                  <a:srgbClr val="F4BB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9" name="Google Shape;349;p34"/>
            <p:cNvGrpSpPr/>
            <p:nvPr/>
          </p:nvGrpSpPr>
          <p:grpSpPr>
            <a:xfrm rot="10800000" flipH="1">
              <a:off x="8414375" y="97275"/>
              <a:ext cx="90900" cy="3705900"/>
              <a:chOff x="7952125" y="1292300"/>
              <a:chExt cx="90900" cy="3705900"/>
            </a:xfrm>
            <a:grpFill/>
          </p:grpSpPr>
          <p:sp>
            <p:nvSpPr>
              <p:cNvPr id="350" name="Google Shape;350;p34"/>
              <p:cNvSpPr/>
              <p:nvPr/>
            </p:nvSpPr>
            <p:spPr>
              <a:xfrm rot="5400000">
                <a:off x="7744975" y="1499450"/>
                <a:ext cx="505200" cy="90900"/>
              </a:xfrm>
              <a:prstGeom prst="rect">
                <a:avLst/>
              </a:prstGeom>
              <a:grpFill/>
              <a:ln>
                <a:solidFill>
                  <a:srgbClr val="F4BB00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51" name="Google Shape;351;p34"/>
              <p:cNvCxnSpPr/>
              <p:nvPr/>
            </p:nvCxnSpPr>
            <p:spPr>
              <a:xfrm>
                <a:off x="8043025" y="1292300"/>
                <a:ext cx="0" cy="370590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F4BB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4" name="Google Shape;354;p35"/>
          <p:cNvGrpSpPr/>
          <p:nvPr/>
        </p:nvGrpSpPr>
        <p:grpSpPr>
          <a:xfrm rot="5400000">
            <a:off x="-1374375" y="3095450"/>
            <a:ext cx="3697200" cy="90900"/>
            <a:chOff x="1239825" y="571500"/>
            <a:chExt cx="3697200" cy="90900"/>
          </a:xfrm>
        </p:grpSpPr>
        <p:cxnSp>
          <p:nvCxnSpPr>
            <p:cNvPr id="355" name="Google Shape;355;p35"/>
            <p:cNvCxnSpPr/>
            <p:nvPr/>
          </p:nvCxnSpPr>
          <p:spPr>
            <a:xfrm rot="10800000">
              <a:off x="3088425" y="-1277100"/>
              <a:ext cx="0" cy="3697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56" name="Google Shape;356;p35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7" name="Google Shape;357;p35"/>
          <p:cNvGrpSpPr/>
          <p:nvPr/>
        </p:nvGrpSpPr>
        <p:grpSpPr>
          <a:xfrm rot="-5400000">
            <a:off x="6802600" y="1948950"/>
            <a:ext cx="3697200" cy="90900"/>
            <a:chOff x="1239825" y="571500"/>
            <a:chExt cx="3697200" cy="90900"/>
          </a:xfrm>
        </p:grpSpPr>
        <p:cxnSp>
          <p:nvCxnSpPr>
            <p:cNvPr id="358" name="Google Shape;358;p35"/>
            <p:cNvCxnSpPr/>
            <p:nvPr/>
          </p:nvCxnSpPr>
          <p:spPr>
            <a:xfrm rot="10800000">
              <a:off x="3088425" y="-1277100"/>
              <a:ext cx="0" cy="3697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59" name="Google Shape;359;p35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6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2" name="Google Shape;362;p36"/>
          <p:cNvGrpSpPr/>
          <p:nvPr/>
        </p:nvGrpSpPr>
        <p:grpSpPr>
          <a:xfrm rot="10800000">
            <a:off x="165548" y="4741850"/>
            <a:ext cx="6506400" cy="90900"/>
            <a:chOff x="1239825" y="571500"/>
            <a:chExt cx="6506400" cy="90900"/>
          </a:xfrm>
        </p:grpSpPr>
        <p:cxnSp>
          <p:nvCxnSpPr>
            <p:cNvPr id="363" name="Google Shape;363;p36"/>
            <p:cNvCxnSpPr/>
            <p:nvPr/>
          </p:nvCxnSpPr>
          <p:spPr>
            <a:xfrm>
              <a:off x="1239825" y="571500"/>
              <a:ext cx="6506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4" name="Google Shape;364;p36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5" name="Google Shape;365;p36"/>
          <p:cNvGrpSpPr/>
          <p:nvPr/>
        </p:nvGrpSpPr>
        <p:grpSpPr>
          <a:xfrm rot="10800000" flipH="1">
            <a:off x="2467871" y="298450"/>
            <a:ext cx="6506400" cy="90900"/>
            <a:chOff x="1239825" y="571500"/>
            <a:chExt cx="6506400" cy="90900"/>
          </a:xfrm>
        </p:grpSpPr>
        <p:cxnSp>
          <p:nvCxnSpPr>
            <p:cNvPr id="366" name="Google Shape;366;p36"/>
            <p:cNvCxnSpPr/>
            <p:nvPr/>
          </p:nvCxnSpPr>
          <p:spPr>
            <a:xfrm>
              <a:off x="1239825" y="571500"/>
              <a:ext cx="6506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7" name="Google Shape;367;p36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4D141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oto Serif Ethiopic"/>
              <a:buNone/>
              <a:defRPr sz="35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lvl="1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lvl="2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lvl="3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lvl="4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lvl="5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lvl="6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lvl="7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lvl="8" indent="-30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katab"/>
              <a:buChar char="■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8" r:id="rId4"/>
    <p:sldLayoutId id="2147483659" r:id="rId5"/>
    <p:sldLayoutId id="2147483675" r:id="rId6"/>
    <p:sldLayoutId id="2147483677" r:id="rId7"/>
    <p:sldLayoutId id="2147483680" r:id="rId8"/>
    <p:sldLayoutId id="2147483681" r:id="rId9"/>
    <p:sldLayoutId id="2147483682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78;p40">
            <a:extLst>
              <a:ext uri="{FF2B5EF4-FFF2-40B4-BE49-F238E27FC236}">
                <a16:creationId xmlns:a16="http://schemas.microsoft.com/office/drawing/2014/main" id="{C1A2868A-463E-BCA4-918D-3DBDFCA78543}"/>
              </a:ext>
            </a:extLst>
          </p:cNvPr>
          <p:cNvSpPr txBox="1">
            <a:spLocks/>
          </p:cNvSpPr>
          <p:nvPr/>
        </p:nvSpPr>
        <p:spPr>
          <a:xfrm>
            <a:off x="1251700" y="1064997"/>
            <a:ext cx="4890300" cy="19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Noto Serif Ethiopic"/>
              <a:buNone/>
              <a:defRPr sz="4300" b="0" i="0" u="none" strike="noStrike" cap="none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3000" dirty="0">
                <a:solidFill>
                  <a:srgbClr val="F4BB00"/>
                </a:solidFill>
              </a:rPr>
              <a:t>MULTI STAGE GATING FOR TOKEN OPTIMIZATION AND MEMORY MANAGEMENT</a:t>
            </a:r>
          </a:p>
        </p:txBody>
      </p:sp>
      <p:sp>
        <p:nvSpPr>
          <p:cNvPr id="3" name="Google Shape;379;p40">
            <a:extLst>
              <a:ext uri="{FF2B5EF4-FFF2-40B4-BE49-F238E27FC236}">
                <a16:creationId xmlns:a16="http://schemas.microsoft.com/office/drawing/2014/main" id="{4B364128-7FBB-0576-9EE6-B42E062CC6B2}"/>
              </a:ext>
            </a:extLst>
          </p:cNvPr>
          <p:cNvSpPr txBox="1">
            <a:spLocks/>
          </p:cNvSpPr>
          <p:nvPr/>
        </p:nvSpPr>
        <p:spPr>
          <a:xfrm>
            <a:off x="1251700" y="3054972"/>
            <a:ext cx="48903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None/>
              <a:defRPr sz="14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katab"/>
              <a:buNone/>
              <a:defRPr sz="18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katab"/>
              <a:buNone/>
              <a:defRPr sz="18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katab"/>
              <a:buNone/>
              <a:defRPr sz="18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katab"/>
              <a:buNone/>
              <a:defRPr sz="18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katab"/>
              <a:buNone/>
              <a:defRPr sz="18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katab"/>
              <a:buNone/>
              <a:defRPr sz="18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katab"/>
              <a:buNone/>
              <a:defRPr sz="18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katab"/>
              <a:buNone/>
              <a:defRPr sz="18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4BB00"/>
                </a:solidFill>
              </a:rPr>
              <a:t>MAIN PROJECT PHASE 2</a:t>
            </a:r>
          </a:p>
        </p:txBody>
      </p:sp>
      <p:grpSp>
        <p:nvGrpSpPr>
          <p:cNvPr id="380" name="Google Shape;380;p40"/>
          <p:cNvGrpSpPr/>
          <p:nvPr/>
        </p:nvGrpSpPr>
        <p:grpSpPr>
          <a:xfrm rot="10800000">
            <a:off x="597150" y="4546275"/>
            <a:ext cx="8385900" cy="90900"/>
            <a:chOff x="160950" y="480600"/>
            <a:chExt cx="8385900" cy="90900"/>
          </a:xfrm>
          <a:solidFill>
            <a:srgbClr val="F4BB00"/>
          </a:solidFill>
        </p:grpSpPr>
        <p:cxnSp>
          <p:nvCxnSpPr>
            <p:cNvPr id="381" name="Google Shape;381;p40"/>
            <p:cNvCxnSpPr/>
            <p:nvPr/>
          </p:nvCxnSpPr>
          <p:spPr>
            <a:xfrm>
              <a:off x="160950" y="571500"/>
              <a:ext cx="8385900" cy="0"/>
            </a:xfrm>
            <a:prstGeom prst="straightConnector1">
              <a:avLst/>
            </a:prstGeom>
            <a:grpFill/>
            <a:ln w="9525" cap="flat" cmpd="sng">
              <a:solidFill>
                <a:srgbClr val="F4BB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82" name="Google Shape;382;p40"/>
            <p:cNvSpPr/>
            <p:nvPr/>
          </p:nvSpPr>
          <p:spPr>
            <a:xfrm>
              <a:off x="8041650" y="480600"/>
              <a:ext cx="505200" cy="90900"/>
            </a:xfrm>
            <a:prstGeom prst="rect">
              <a:avLst/>
            </a:prstGeom>
            <a:grpFill/>
            <a:ln>
              <a:solidFill>
                <a:srgbClr val="F4BB0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3" name="Google Shape;383;p40"/>
          <p:cNvGrpSpPr/>
          <p:nvPr/>
        </p:nvGrpSpPr>
        <p:grpSpPr>
          <a:xfrm>
            <a:off x="7952125" y="1292300"/>
            <a:ext cx="90900" cy="3705900"/>
            <a:chOff x="7952125" y="1292300"/>
            <a:chExt cx="90900" cy="3705900"/>
          </a:xfrm>
          <a:solidFill>
            <a:srgbClr val="F4BB00"/>
          </a:solidFill>
        </p:grpSpPr>
        <p:sp>
          <p:nvSpPr>
            <p:cNvPr id="384" name="Google Shape;384;p40"/>
            <p:cNvSpPr/>
            <p:nvPr/>
          </p:nvSpPr>
          <p:spPr>
            <a:xfrm rot="5400000">
              <a:off x="7744975" y="1499450"/>
              <a:ext cx="505200" cy="90900"/>
            </a:xfrm>
            <a:prstGeom prst="rect">
              <a:avLst/>
            </a:prstGeom>
            <a:grpFill/>
            <a:ln>
              <a:solidFill>
                <a:srgbClr val="F4BB0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85" name="Google Shape;385;p40"/>
            <p:cNvCxnSpPr/>
            <p:nvPr/>
          </p:nvCxnSpPr>
          <p:spPr>
            <a:xfrm>
              <a:off x="8043025" y="1292300"/>
              <a:ext cx="0" cy="3705900"/>
            </a:xfrm>
            <a:prstGeom prst="straightConnector1">
              <a:avLst/>
            </a:prstGeom>
            <a:grpFill/>
            <a:ln w="9525" cap="flat" cmpd="sng">
              <a:solidFill>
                <a:srgbClr val="F4BB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DA6F693-5A37-6583-73C6-496960E9F93A}"/>
              </a:ext>
            </a:extLst>
          </p:cNvPr>
          <p:cNvSpPr txBox="1"/>
          <p:nvPr/>
        </p:nvSpPr>
        <p:spPr>
          <a:xfrm>
            <a:off x="99064" y="4792025"/>
            <a:ext cx="5661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4BB00"/>
                </a:solidFill>
                <a:latin typeface="Aptos" panose="020B0004020202020204" pitchFamily="34" charset="0"/>
              </a:rPr>
              <a:t>Artificial Intelligence &amp; Data Science – ADD 416 (Project Phase 2)</a:t>
            </a:r>
            <a:endParaRPr lang="en-IN" sz="1200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1AC61F-6E13-422C-5DB8-861D91B61989}"/>
              </a:ext>
            </a:extLst>
          </p:cNvPr>
          <p:cNvSpPr txBox="1"/>
          <p:nvPr/>
        </p:nvSpPr>
        <p:spPr>
          <a:xfrm>
            <a:off x="7117084" y="4752438"/>
            <a:ext cx="1501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05/02/2026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16EA29-3EC6-1CAF-625A-83B998C002F1}"/>
              </a:ext>
            </a:extLst>
          </p:cNvPr>
          <p:cNvSpPr txBox="1"/>
          <p:nvPr/>
        </p:nvSpPr>
        <p:spPr>
          <a:xfrm>
            <a:off x="8686804" y="4753777"/>
            <a:ext cx="426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01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2"/>
          <p:cNvSpPr txBox="1">
            <a:spLocks noGrp="1"/>
          </p:cNvSpPr>
          <p:nvPr>
            <p:ph type="title" idx="13"/>
          </p:nvPr>
        </p:nvSpPr>
        <p:spPr>
          <a:xfrm>
            <a:off x="720000" y="20150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4BB00"/>
                </a:solidFill>
              </a:rPr>
              <a:t>Our Team</a:t>
            </a:r>
            <a:endParaRPr dirty="0">
              <a:solidFill>
                <a:srgbClr val="F4BB00"/>
              </a:solidFill>
            </a:endParaRPr>
          </a:p>
        </p:txBody>
      </p:sp>
      <p:pic>
        <p:nvPicPr>
          <p:cNvPr id="32" name="Google Shape;568;p75">
            <a:extLst>
              <a:ext uri="{FF2B5EF4-FFF2-40B4-BE49-F238E27FC236}">
                <a16:creationId xmlns:a16="http://schemas.microsoft.com/office/drawing/2014/main" id="{2AEADAC7-0D27-25E8-7DD2-459CEDC077AE}"/>
              </a:ext>
            </a:extLst>
          </p:cNvPr>
          <p:cNvPicPr preferRelativeResize="0"/>
          <p:nvPr/>
        </p:nvPicPr>
        <p:blipFill>
          <a:blip r:embed="rId3"/>
          <a:srcRect t="2701" b="2701"/>
          <a:stretch/>
        </p:blipFill>
        <p:spPr>
          <a:xfrm>
            <a:off x="1044070" y="1106060"/>
            <a:ext cx="1400459" cy="1240574"/>
          </a:xfrm>
          <a:prstGeom prst="triangle">
            <a:avLst>
              <a:gd name="adj" fmla="val 50000"/>
            </a:avLst>
          </a:prstGeom>
          <a:noFill/>
          <a:ln w="28575">
            <a:solidFill>
              <a:srgbClr val="F4BB00"/>
            </a:solidFill>
          </a:ln>
        </p:spPr>
      </p:pic>
      <p:sp>
        <p:nvSpPr>
          <p:cNvPr id="33" name="Google Shape;569;p75">
            <a:extLst>
              <a:ext uri="{FF2B5EF4-FFF2-40B4-BE49-F238E27FC236}">
                <a16:creationId xmlns:a16="http://schemas.microsoft.com/office/drawing/2014/main" id="{1BA87C00-09E9-2348-3265-12A4F9AEBDFA}"/>
              </a:ext>
            </a:extLst>
          </p:cNvPr>
          <p:cNvSpPr txBox="1">
            <a:spLocks/>
          </p:cNvSpPr>
          <p:nvPr/>
        </p:nvSpPr>
        <p:spPr>
          <a:xfrm>
            <a:off x="2811213" y="2514726"/>
            <a:ext cx="351635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erif Ethiopic"/>
              <a:buNone/>
              <a:defRPr sz="3000" b="0" i="0" u="none" strike="noStrike" cap="none">
                <a:solidFill>
                  <a:schemeClr val="accent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1400" b="1" dirty="0">
                <a:solidFill>
                  <a:srgbClr val="F4BB00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Dr. </a:t>
            </a:r>
            <a:r>
              <a:rPr lang="en-US" sz="1400" b="1" dirty="0" err="1">
                <a:solidFill>
                  <a:srgbClr val="F4BB00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Renjith</a:t>
            </a:r>
            <a:r>
              <a:rPr lang="en-US" sz="1400" b="1" dirty="0">
                <a:solidFill>
                  <a:srgbClr val="F4BB00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 Thomas</a:t>
            </a:r>
            <a:br>
              <a:rPr lang="en-US" sz="1400" b="1" dirty="0">
                <a:solidFill>
                  <a:srgbClr val="F4BB00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</a:br>
            <a:r>
              <a:rPr lang="en-US" sz="1400" b="1" dirty="0">
                <a:solidFill>
                  <a:srgbClr val="F4BB00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Associate Professor; HOD AD Dept.</a:t>
            </a:r>
          </a:p>
        </p:txBody>
      </p:sp>
      <p:sp>
        <p:nvSpPr>
          <p:cNvPr id="34" name="Google Shape;570;p75">
            <a:extLst>
              <a:ext uri="{FF2B5EF4-FFF2-40B4-BE49-F238E27FC236}">
                <a16:creationId xmlns:a16="http://schemas.microsoft.com/office/drawing/2014/main" id="{62C74F1F-C4AD-9DA9-4AC8-A02F1D1D53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2450" y="2514726"/>
            <a:ext cx="1763700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4BB00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Annu Jaison</a:t>
            </a:r>
            <a:br>
              <a:rPr lang="en-US" sz="1400" b="1" dirty="0">
                <a:solidFill>
                  <a:srgbClr val="F4BB00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</a:br>
            <a:r>
              <a:rPr lang="en-US" sz="1400" b="1" dirty="0">
                <a:solidFill>
                  <a:srgbClr val="F4BB00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SJC22AD018</a:t>
            </a:r>
            <a:endParaRPr sz="1400" b="1" dirty="0">
              <a:solidFill>
                <a:srgbClr val="F4BB00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35" name="Google Shape;572;p75">
            <a:extLst>
              <a:ext uri="{FF2B5EF4-FFF2-40B4-BE49-F238E27FC236}">
                <a16:creationId xmlns:a16="http://schemas.microsoft.com/office/drawing/2014/main" id="{3E9FC2CE-FD0B-368E-0E68-63597C31487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6431318" y="2514726"/>
            <a:ext cx="2049463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4BB00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Aaron Johns</a:t>
            </a:r>
            <a:br>
              <a:rPr lang="en-US" sz="1400" b="1" dirty="0">
                <a:solidFill>
                  <a:srgbClr val="F4BB00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</a:br>
            <a:r>
              <a:rPr lang="en-US" sz="1400" b="1" dirty="0">
                <a:solidFill>
                  <a:srgbClr val="F4BB00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SJC22AD001</a:t>
            </a:r>
            <a:endParaRPr sz="1400" b="1" dirty="0">
              <a:solidFill>
                <a:srgbClr val="F4BB00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pic>
        <p:nvPicPr>
          <p:cNvPr id="36" name="Google Shape;576;p75">
            <a:extLst>
              <a:ext uri="{FF2B5EF4-FFF2-40B4-BE49-F238E27FC236}">
                <a16:creationId xmlns:a16="http://schemas.microsoft.com/office/drawing/2014/main" id="{0BB56164-648E-DFDE-6E10-934DFA67278F}"/>
              </a:ext>
            </a:extLst>
          </p:cNvPr>
          <p:cNvPicPr preferRelativeResize="0"/>
          <p:nvPr/>
        </p:nvPicPr>
        <p:blipFill>
          <a:blip r:embed="rId4"/>
          <a:srcRect l="883" r="883"/>
          <a:stretch/>
        </p:blipFill>
        <p:spPr>
          <a:xfrm>
            <a:off x="6755849" y="1104634"/>
            <a:ext cx="1400400" cy="1242000"/>
          </a:xfrm>
          <a:prstGeom prst="triangle">
            <a:avLst>
              <a:gd name="adj" fmla="val 50000"/>
            </a:avLst>
          </a:prstGeom>
          <a:noFill/>
          <a:ln w="28575">
            <a:solidFill>
              <a:srgbClr val="F4BB00"/>
            </a:solidFill>
          </a:ln>
        </p:spPr>
      </p:pic>
      <p:pic>
        <p:nvPicPr>
          <p:cNvPr id="37" name="Google Shape;578;p75">
            <a:extLst>
              <a:ext uri="{FF2B5EF4-FFF2-40B4-BE49-F238E27FC236}">
                <a16:creationId xmlns:a16="http://schemas.microsoft.com/office/drawing/2014/main" id="{B8FA898A-BC17-D703-4D10-06FCD9049439}"/>
              </a:ext>
            </a:extLst>
          </p:cNvPr>
          <p:cNvPicPr preferRelativeResize="0"/>
          <p:nvPr/>
        </p:nvPicPr>
        <p:blipFill>
          <a:blip r:embed="rId5"/>
          <a:srcRect t="8505" b="8505"/>
          <a:stretch/>
        </p:blipFill>
        <p:spPr>
          <a:xfrm>
            <a:off x="3809865" y="1104634"/>
            <a:ext cx="1400400" cy="1242000"/>
          </a:xfrm>
          <a:prstGeom prst="flowChartMerge">
            <a:avLst/>
          </a:prstGeom>
          <a:noFill/>
          <a:ln w="28575">
            <a:solidFill>
              <a:srgbClr val="F4BB00"/>
            </a:solidFill>
          </a:ln>
        </p:spPr>
      </p:pic>
      <p:pic>
        <p:nvPicPr>
          <p:cNvPr id="38" name="Google Shape;578;p75">
            <a:extLst>
              <a:ext uri="{FF2B5EF4-FFF2-40B4-BE49-F238E27FC236}">
                <a16:creationId xmlns:a16="http://schemas.microsoft.com/office/drawing/2014/main" id="{56B9AE0E-EAFC-34B9-B555-5612B8CDC64D}"/>
              </a:ext>
            </a:extLst>
          </p:cNvPr>
          <p:cNvPicPr preferRelativeResize="0"/>
          <p:nvPr/>
        </p:nvPicPr>
        <p:blipFill>
          <a:blip r:embed="rId6"/>
          <a:srcRect l="1802" r="1802"/>
          <a:stretch/>
        </p:blipFill>
        <p:spPr>
          <a:xfrm>
            <a:off x="2252590" y="2937911"/>
            <a:ext cx="1400400" cy="1242000"/>
          </a:xfrm>
          <a:prstGeom prst="flowChartMerge">
            <a:avLst/>
          </a:prstGeom>
          <a:noFill/>
          <a:ln w="28575">
            <a:solidFill>
              <a:srgbClr val="F4BB00"/>
            </a:solidFill>
          </a:ln>
        </p:spPr>
      </p:pic>
      <p:pic>
        <p:nvPicPr>
          <p:cNvPr id="39" name="Google Shape;578;p75">
            <a:extLst>
              <a:ext uri="{FF2B5EF4-FFF2-40B4-BE49-F238E27FC236}">
                <a16:creationId xmlns:a16="http://schemas.microsoft.com/office/drawing/2014/main" id="{2853ABB4-C696-5530-7FCF-6C3C11467C92}"/>
              </a:ext>
            </a:extLst>
          </p:cNvPr>
          <p:cNvPicPr preferRelativeResize="0"/>
          <p:nvPr/>
        </p:nvPicPr>
        <p:blipFill>
          <a:blip r:embed="rId7"/>
          <a:srcRect l="5680" r="5680"/>
          <a:stretch/>
        </p:blipFill>
        <p:spPr>
          <a:xfrm>
            <a:off x="5309362" y="2937911"/>
            <a:ext cx="1400400" cy="1242000"/>
          </a:xfrm>
          <a:prstGeom prst="flowChartMerge">
            <a:avLst/>
          </a:prstGeom>
          <a:noFill/>
          <a:ln w="28575">
            <a:solidFill>
              <a:srgbClr val="F4BB00"/>
            </a:solidFill>
          </a:ln>
        </p:spPr>
      </p:pic>
      <p:sp>
        <p:nvSpPr>
          <p:cNvPr id="40" name="Google Shape;572;p75">
            <a:extLst>
              <a:ext uri="{FF2B5EF4-FFF2-40B4-BE49-F238E27FC236}">
                <a16:creationId xmlns:a16="http://schemas.microsoft.com/office/drawing/2014/main" id="{120C8E39-21EE-983E-63BE-1B58670EDA02}"/>
              </a:ext>
            </a:extLst>
          </p:cNvPr>
          <p:cNvSpPr txBox="1">
            <a:spLocks/>
          </p:cNvSpPr>
          <p:nvPr/>
        </p:nvSpPr>
        <p:spPr>
          <a:xfrm>
            <a:off x="1928058" y="4355986"/>
            <a:ext cx="2049463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1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r>
              <a:rPr lang="en-US" sz="1400" dirty="0">
                <a:solidFill>
                  <a:srgbClr val="F4BB00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Adith Abhilash</a:t>
            </a:r>
          </a:p>
          <a:p>
            <a:r>
              <a:rPr lang="en-US" sz="1400" dirty="0">
                <a:solidFill>
                  <a:srgbClr val="F4BB00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SJC22AD008</a:t>
            </a:r>
          </a:p>
        </p:txBody>
      </p:sp>
      <p:sp>
        <p:nvSpPr>
          <p:cNvPr id="41" name="Google Shape;572;p75">
            <a:extLst>
              <a:ext uri="{FF2B5EF4-FFF2-40B4-BE49-F238E27FC236}">
                <a16:creationId xmlns:a16="http://schemas.microsoft.com/office/drawing/2014/main" id="{2E5A89EC-804A-69C7-378C-F840D992942F}"/>
              </a:ext>
            </a:extLst>
          </p:cNvPr>
          <p:cNvSpPr txBox="1">
            <a:spLocks/>
          </p:cNvSpPr>
          <p:nvPr/>
        </p:nvSpPr>
        <p:spPr>
          <a:xfrm>
            <a:off x="4984830" y="4355986"/>
            <a:ext cx="2049463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1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r>
              <a:rPr lang="en-US" sz="1400" dirty="0">
                <a:solidFill>
                  <a:srgbClr val="F4BB00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Pooja Shibu</a:t>
            </a:r>
            <a:br>
              <a:rPr lang="en-US" sz="1400" dirty="0">
                <a:solidFill>
                  <a:srgbClr val="F4BB00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</a:br>
            <a:r>
              <a:rPr lang="en-US" sz="1400" dirty="0">
                <a:solidFill>
                  <a:srgbClr val="F4BB00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SJC21AD048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263E72B-3828-D2E6-2655-6A3F368B6B9F}"/>
              </a:ext>
            </a:extLst>
          </p:cNvPr>
          <p:cNvSpPr txBox="1"/>
          <p:nvPr/>
        </p:nvSpPr>
        <p:spPr>
          <a:xfrm>
            <a:off x="99064" y="4792025"/>
            <a:ext cx="5661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4BB00"/>
                </a:solidFill>
                <a:latin typeface="Aptos" panose="020B0004020202020204" pitchFamily="34" charset="0"/>
              </a:rPr>
              <a:t>Artificial Intelligence &amp; Data Science – ADD 416 (Project Phase 2)</a:t>
            </a:r>
            <a:endParaRPr lang="en-IN" sz="1200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E620A32-5022-86D9-28CF-55F88CC47990}"/>
              </a:ext>
            </a:extLst>
          </p:cNvPr>
          <p:cNvSpPr txBox="1"/>
          <p:nvPr/>
        </p:nvSpPr>
        <p:spPr>
          <a:xfrm>
            <a:off x="7117084" y="4752438"/>
            <a:ext cx="1501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05/02/2026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57A308-F19E-FB3F-10CB-9815D2E20771}"/>
              </a:ext>
            </a:extLst>
          </p:cNvPr>
          <p:cNvSpPr txBox="1"/>
          <p:nvPr/>
        </p:nvSpPr>
        <p:spPr>
          <a:xfrm>
            <a:off x="8686804" y="4753777"/>
            <a:ext cx="426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02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198;p29">
            <a:extLst>
              <a:ext uri="{FF2B5EF4-FFF2-40B4-BE49-F238E27FC236}">
                <a16:creationId xmlns:a16="http://schemas.microsoft.com/office/drawing/2014/main" id="{23EFD6B6-A580-7BB2-0745-DE5F55E9BE2F}"/>
              </a:ext>
            </a:extLst>
          </p:cNvPr>
          <p:cNvSpPr txBox="1">
            <a:spLocks/>
          </p:cNvSpPr>
          <p:nvPr/>
        </p:nvSpPr>
        <p:spPr>
          <a:xfrm>
            <a:off x="1121835" y="457004"/>
            <a:ext cx="74838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139700" indent="0" algn="r">
              <a:buNone/>
            </a:pPr>
            <a:r>
              <a:rPr lang="en-US" dirty="0">
                <a:solidFill>
                  <a:srgbClr val="F4BB00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INTRODUCTION</a:t>
            </a:r>
          </a:p>
        </p:txBody>
      </p:sp>
      <p:sp>
        <p:nvSpPr>
          <p:cNvPr id="28" name="Google Shape;199;p29">
            <a:extLst>
              <a:ext uri="{FF2B5EF4-FFF2-40B4-BE49-F238E27FC236}">
                <a16:creationId xmlns:a16="http://schemas.microsoft.com/office/drawing/2014/main" id="{2566D6D8-0E32-4532-40F7-5401FD77B358}"/>
              </a:ext>
            </a:extLst>
          </p:cNvPr>
          <p:cNvSpPr txBox="1">
            <a:spLocks/>
          </p:cNvSpPr>
          <p:nvPr/>
        </p:nvSpPr>
        <p:spPr>
          <a:xfrm>
            <a:off x="1123493" y="899048"/>
            <a:ext cx="7483800" cy="384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US" sz="1200">
                <a:solidFill>
                  <a:srgbClr val="F4BB00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PROBLEM STATEMENT</a:t>
            </a:r>
            <a:endParaRPr lang="en-US" sz="1200" dirty="0">
              <a:solidFill>
                <a:srgbClr val="F4BB00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29" name="Google Shape;200;p29">
            <a:extLst>
              <a:ext uri="{FF2B5EF4-FFF2-40B4-BE49-F238E27FC236}">
                <a16:creationId xmlns:a16="http://schemas.microsoft.com/office/drawing/2014/main" id="{F711B8FE-0C56-33AB-5C46-673BA93BC239}"/>
              </a:ext>
            </a:extLst>
          </p:cNvPr>
          <p:cNvSpPr txBox="1">
            <a:spLocks/>
          </p:cNvSpPr>
          <p:nvPr/>
        </p:nvSpPr>
        <p:spPr>
          <a:xfrm>
            <a:off x="1123493" y="1783185"/>
            <a:ext cx="7483800" cy="384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US" sz="1200">
                <a:solidFill>
                  <a:srgbClr val="F4BB00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LITERATURE SURVEY/EXISTING SYSTEMS</a:t>
            </a:r>
            <a:endParaRPr lang="en-US" sz="1200" dirty="0">
              <a:solidFill>
                <a:srgbClr val="F4BB00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30" name="Google Shape;201;p29">
            <a:extLst>
              <a:ext uri="{FF2B5EF4-FFF2-40B4-BE49-F238E27FC236}">
                <a16:creationId xmlns:a16="http://schemas.microsoft.com/office/drawing/2014/main" id="{0D704E7A-F4D6-9EC5-46CC-E99549963BC9}"/>
              </a:ext>
            </a:extLst>
          </p:cNvPr>
          <p:cNvSpPr txBox="1">
            <a:spLocks/>
          </p:cNvSpPr>
          <p:nvPr/>
        </p:nvSpPr>
        <p:spPr>
          <a:xfrm>
            <a:off x="1123493" y="2667323"/>
            <a:ext cx="7483800" cy="384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US" sz="1200">
                <a:solidFill>
                  <a:srgbClr val="F4BB00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TOOLS AND TECHNOLOGIES</a:t>
            </a:r>
            <a:endParaRPr lang="en-IN" sz="1200" dirty="0">
              <a:solidFill>
                <a:srgbClr val="F4BB00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31" name="Google Shape;202;p29">
            <a:extLst>
              <a:ext uri="{FF2B5EF4-FFF2-40B4-BE49-F238E27FC236}">
                <a16:creationId xmlns:a16="http://schemas.microsoft.com/office/drawing/2014/main" id="{F8E31353-C344-2C3B-A8A1-241899CD0EE1}"/>
              </a:ext>
            </a:extLst>
          </p:cNvPr>
          <p:cNvSpPr txBox="1">
            <a:spLocks/>
          </p:cNvSpPr>
          <p:nvPr/>
        </p:nvSpPr>
        <p:spPr>
          <a:xfrm>
            <a:off x="1123493" y="1341117"/>
            <a:ext cx="7483800" cy="384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US" sz="1200">
                <a:solidFill>
                  <a:srgbClr val="F4BB00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OBJECTIVES</a:t>
            </a:r>
            <a:endParaRPr lang="en-US" sz="1200" dirty="0">
              <a:solidFill>
                <a:srgbClr val="F4BB00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32" name="Google Shape;203;p29">
            <a:extLst>
              <a:ext uri="{FF2B5EF4-FFF2-40B4-BE49-F238E27FC236}">
                <a16:creationId xmlns:a16="http://schemas.microsoft.com/office/drawing/2014/main" id="{434B30A3-2CAF-3231-173F-FCC543387574}"/>
              </a:ext>
            </a:extLst>
          </p:cNvPr>
          <p:cNvSpPr txBox="1">
            <a:spLocks/>
          </p:cNvSpPr>
          <p:nvPr/>
        </p:nvSpPr>
        <p:spPr>
          <a:xfrm>
            <a:off x="1123493" y="2225254"/>
            <a:ext cx="7483800" cy="384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US" sz="1200">
                <a:solidFill>
                  <a:srgbClr val="F4BB00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PROPOSED METHODOLOGY AND SOLUTION </a:t>
            </a:r>
            <a:endParaRPr lang="en-US" sz="1200" dirty="0">
              <a:solidFill>
                <a:srgbClr val="F4BB00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33" name="Google Shape;204;p29">
            <a:extLst>
              <a:ext uri="{FF2B5EF4-FFF2-40B4-BE49-F238E27FC236}">
                <a16:creationId xmlns:a16="http://schemas.microsoft.com/office/drawing/2014/main" id="{BB5CB454-577D-700E-2B99-2530C1DB3B1A}"/>
              </a:ext>
            </a:extLst>
          </p:cNvPr>
          <p:cNvSpPr txBox="1">
            <a:spLocks/>
          </p:cNvSpPr>
          <p:nvPr/>
        </p:nvSpPr>
        <p:spPr>
          <a:xfrm>
            <a:off x="1123493" y="3109392"/>
            <a:ext cx="7483800" cy="384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US" sz="1200">
                <a:solidFill>
                  <a:srgbClr val="F4BB00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SCOPE OF THE PROJECT</a:t>
            </a:r>
            <a:endParaRPr lang="en-IN" sz="1200" dirty="0">
              <a:solidFill>
                <a:srgbClr val="F4BB00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34" name="Google Shape;205;p29">
            <a:extLst>
              <a:ext uri="{FF2B5EF4-FFF2-40B4-BE49-F238E27FC236}">
                <a16:creationId xmlns:a16="http://schemas.microsoft.com/office/drawing/2014/main" id="{FF086AB9-9EE6-91F6-02B0-FE76784354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43917" y="91028"/>
            <a:ext cx="8686800" cy="576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4BB00"/>
                </a:solidFill>
              </a:rPr>
              <a:t>TABLE OF CONTENTS</a:t>
            </a:r>
            <a:endParaRPr dirty="0">
              <a:solidFill>
                <a:srgbClr val="F4BB00"/>
              </a:solidFill>
            </a:endParaRPr>
          </a:p>
        </p:txBody>
      </p:sp>
      <p:sp>
        <p:nvSpPr>
          <p:cNvPr id="35" name="Google Shape;206;p29">
            <a:extLst>
              <a:ext uri="{FF2B5EF4-FFF2-40B4-BE49-F238E27FC236}">
                <a16:creationId xmlns:a16="http://schemas.microsoft.com/office/drawing/2014/main" id="{B28A7658-8B74-4304-242A-DDCCAC320ABA}"/>
              </a:ext>
            </a:extLst>
          </p:cNvPr>
          <p:cNvSpPr txBox="1">
            <a:spLocks/>
          </p:cNvSpPr>
          <p:nvPr/>
        </p:nvSpPr>
        <p:spPr>
          <a:xfrm>
            <a:off x="442300" y="457004"/>
            <a:ext cx="727800" cy="384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>
                <a:solidFill>
                  <a:srgbClr val="F4BB00"/>
                </a:solidFill>
              </a:rPr>
              <a:t>{01}</a:t>
            </a:r>
            <a:endParaRPr lang="en" dirty="0">
              <a:solidFill>
                <a:srgbClr val="F4BB00"/>
              </a:solidFill>
            </a:endParaRPr>
          </a:p>
        </p:txBody>
      </p:sp>
      <p:sp>
        <p:nvSpPr>
          <p:cNvPr id="36" name="Google Shape;207;p29">
            <a:extLst>
              <a:ext uri="{FF2B5EF4-FFF2-40B4-BE49-F238E27FC236}">
                <a16:creationId xmlns:a16="http://schemas.microsoft.com/office/drawing/2014/main" id="{73047899-C50C-C6C1-F57C-42A9AE3798D3}"/>
              </a:ext>
            </a:extLst>
          </p:cNvPr>
          <p:cNvSpPr txBox="1">
            <a:spLocks/>
          </p:cNvSpPr>
          <p:nvPr/>
        </p:nvSpPr>
        <p:spPr>
          <a:xfrm>
            <a:off x="442300" y="899058"/>
            <a:ext cx="727800" cy="384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>
                <a:solidFill>
                  <a:srgbClr val="F4BB00"/>
                </a:solidFill>
              </a:rPr>
              <a:t>{02}</a:t>
            </a:r>
          </a:p>
        </p:txBody>
      </p:sp>
      <p:sp>
        <p:nvSpPr>
          <p:cNvPr id="37" name="Google Shape;208;p29">
            <a:extLst>
              <a:ext uri="{FF2B5EF4-FFF2-40B4-BE49-F238E27FC236}">
                <a16:creationId xmlns:a16="http://schemas.microsoft.com/office/drawing/2014/main" id="{A2360CC8-F087-3811-2A48-A6C4E696B149}"/>
              </a:ext>
            </a:extLst>
          </p:cNvPr>
          <p:cNvSpPr txBox="1">
            <a:spLocks/>
          </p:cNvSpPr>
          <p:nvPr/>
        </p:nvSpPr>
        <p:spPr>
          <a:xfrm>
            <a:off x="442300" y="1341111"/>
            <a:ext cx="727800" cy="384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>
                <a:solidFill>
                  <a:srgbClr val="F4BB00"/>
                </a:solidFill>
              </a:rPr>
              <a:t>{03}</a:t>
            </a:r>
          </a:p>
        </p:txBody>
      </p:sp>
      <p:sp>
        <p:nvSpPr>
          <p:cNvPr id="38" name="Google Shape;209;p29">
            <a:extLst>
              <a:ext uri="{FF2B5EF4-FFF2-40B4-BE49-F238E27FC236}">
                <a16:creationId xmlns:a16="http://schemas.microsoft.com/office/drawing/2014/main" id="{3D3F53A9-83F5-8DA5-4F70-33EB7BA5C06B}"/>
              </a:ext>
            </a:extLst>
          </p:cNvPr>
          <p:cNvSpPr txBox="1">
            <a:spLocks/>
          </p:cNvSpPr>
          <p:nvPr/>
        </p:nvSpPr>
        <p:spPr>
          <a:xfrm>
            <a:off x="442300" y="1783165"/>
            <a:ext cx="727800" cy="384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>
                <a:solidFill>
                  <a:srgbClr val="F4BB00"/>
                </a:solidFill>
              </a:rPr>
              <a:t>{04}</a:t>
            </a:r>
          </a:p>
        </p:txBody>
      </p:sp>
      <p:sp>
        <p:nvSpPr>
          <p:cNvPr id="39" name="Google Shape;210;p29">
            <a:extLst>
              <a:ext uri="{FF2B5EF4-FFF2-40B4-BE49-F238E27FC236}">
                <a16:creationId xmlns:a16="http://schemas.microsoft.com/office/drawing/2014/main" id="{197100FA-A3FF-F32B-0F55-9A1B39FF8DEC}"/>
              </a:ext>
            </a:extLst>
          </p:cNvPr>
          <p:cNvSpPr txBox="1">
            <a:spLocks/>
          </p:cNvSpPr>
          <p:nvPr/>
        </p:nvSpPr>
        <p:spPr>
          <a:xfrm>
            <a:off x="442300" y="2225219"/>
            <a:ext cx="727800" cy="384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>
                <a:solidFill>
                  <a:srgbClr val="F4BB00"/>
                </a:solidFill>
              </a:rPr>
              <a:t>{05}</a:t>
            </a:r>
          </a:p>
        </p:txBody>
      </p:sp>
      <p:sp>
        <p:nvSpPr>
          <p:cNvPr id="40" name="Google Shape;211;p29">
            <a:extLst>
              <a:ext uri="{FF2B5EF4-FFF2-40B4-BE49-F238E27FC236}">
                <a16:creationId xmlns:a16="http://schemas.microsoft.com/office/drawing/2014/main" id="{7353B634-7E36-A3A8-8703-FA9BD03C7E87}"/>
              </a:ext>
            </a:extLst>
          </p:cNvPr>
          <p:cNvSpPr txBox="1">
            <a:spLocks/>
          </p:cNvSpPr>
          <p:nvPr/>
        </p:nvSpPr>
        <p:spPr>
          <a:xfrm>
            <a:off x="442300" y="2667273"/>
            <a:ext cx="727800" cy="384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>
                <a:solidFill>
                  <a:srgbClr val="F4BB00"/>
                </a:solidFill>
              </a:rPr>
              <a:t>{06}</a:t>
            </a:r>
          </a:p>
        </p:txBody>
      </p:sp>
      <p:sp>
        <p:nvSpPr>
          <p:cNvPr id="41" name="Google Shape;212;p29">
            <a:extLst>
              <a:ext uri="{FF2B5EF4-FFF2-40B4-BE49-F238E27FC236}">
                <a16:creationId xmlns:a16="http://schemas.microsoft.com/office/drawing/2014/main" id="{A0A27A0F-AAC6-9224-FE2F-B3F2FC2F77CD}"/>
              </a:ext>
            </a:extLst>
          </p:cNvPr>
          <p:cNvSpPr txBox="1">
            <a:spLocks/>
          </p:cNvSpPr>
          <p:nvPr/>
        </p:nvSpPr>
        <p:spPr>
          <a:xfrm>
            <a:off x="442300" y="3109326"/>
            <a:ext cx="727800" cy="384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>
                <a:solidFill>
                  <a:srgbClr val="F4BB00"/>
                </a:solidFill>
              </a:rPr>
              <a:t>{07}</a:t>
            </a:r>
          </a:p>
        </p:txBody>
      </p:sp>
      <p:sp>
        <p:nvSpPr>
          <p:cNvPr id="42" name="Google Shape;213;p29">
            <a:extLst>
              <a:ext uri="{FF2B5EF4-FFF2-40B4-BE49-F238E27FC236}">
                <a16:creationId xmlns:a16="http://schemas.microsoft.com/office/drawing/2014/main" id="{A596315A-0C62-DA7D-AD35-AA3F7FB41160}"/>
              </a:ext>
            </a:extLst>
          </p:cNvPr>
          <p:cNvSpPr txBox="1">
            <a:spLocks/>
          </p:cNvSpPr>
          <p:nvPr/>
        </p:nvSpPr>
        <p:spPr>
          <a:xfrm>
            <a:off x="1123493" y="3551461"/>
            <a:ext cx="7483800" cy="384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US" sz="1200">
                <a:solidFill>
                  <a:srgbClr val="F4BB00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EXPECTED OUTPUT</a:t>
            </a:r>
            <a:endParaRPr lang="en-IN" sz="1200" dirty="0">
              <a:solidFill>
                <a:srgbClr val="F4BB00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43" name="Google Shape;214;p29">
            <a:extLst>
              <a:ext uri="{FF2B5EF4-FFF2-40B4-BE49-F238E27FC236}">
                <a16:creationId xmlns:a16="http://schemas.microsoft.com/office/drawing/2014/main" id="{51E3ECC9-FBC2-8137-74E4-D88F39B951C1}"/>
              </a:ext>
            </a:extLst>
          </p:cNvPr>
          <p:cNvSpPr txBox="1">
            <a:spLocks/>
          </p:cNvSpPr>
          <p:nvPr/>
        </p:nvSpPr>
        <p:spPr>
          <a:xfrm>
            <a:off x="442300" y="3551380"/>
            <a:ext cx="727800" cy="384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>
                <a:solidFill>
                  <a:srgbClr val="F4BB00"/>
                </a:solidFill>
              </a:rPr>
              <a:t>{08}</a:t>
            </a:r>
          </a:p>
        </p:txBody>
      </p:sp>
      <p:sp>
        <p:nvSpPr>
          <p:cNvPr id="44" name="Google Shape;204;p29">
            <a:extLst>
              <a:ext uri="{FF2B5EF4-FFF2-40B4-BE49-F238E27FC236}">
                <a16:creationId xmlns:a16="http://schemas.microsoft.com/office/drawing/2014/main" id="{98C6587E-B5E7-AB9B-3211-0566B0AEA62C}"/>
              </a:ext>
            </a:extLst>
          </p:cNvPr>
          <p:cNvSpPr txBox="1">
            <a:spLocks/>
          </p:cNvSpPr>
          <p:nvPr/>
        </p:nvSpPr>
        <p:spPr>
          <a:xfrm>
            <a:off x="1121835" y="3947591"/>
            <a:ext cx="74838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12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2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2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2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2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2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2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2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2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r>
              <a:rPr lang="en-US" sz="1200" dirty="0">
                <a:solidFill>
                  <a:srgbClr val="F4BB00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CONCLUSION</a:t>
            </a:r>
            <a:endParaRPr lang="en-IN" sz="1200" dirty="0">
              <a:solidFill>
                <a:srgbClr val="F4BB00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45" name="Google Shape;212;p29">
            <a:extLst>
              <a:ext uri="{FF2B5EF4-FFF2-40B4-BE49-F238E27FC236}">
                <a16:creationId xmlns:a16="http://schemas.microsoft.com/office/drawing/2014/main" id="{AA6EF023-F2B4-204B-7913-C30F2C199FEC}"/>
              </a:ext>
            </a:extLst>
          </p:cNvPr>
          <p:cNvSpPr txBox="1">
            <a:spLocks/>
          </p:cNvSpPr>
          <p:nvPr/>
        </p:nvSpPr>
        <p:spPr>
          <a:xfrm>
            <a:off x="440642" y="3947525"/>
            <a:ext cx="7278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erif Ethiopic"/>
              <a:buNone/>
              <a:defRPr sz="1400" b="0" i="0" u="none" strike="noStrike" cap="none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 dirty="0">
                <a:solidFill>
                  <a:srgbClr val="F4BB00"/>
                </a:solidFill>
              </a:rPr>
              <a:t>{09}</a:t>
            </a:r>
          </a:p>
        </p:txBody>
      </p:sp>
      <p:sp>
        <p:nvSpPr>
          <p:cNvPr id="46" name="Google Shape;213;p29">
            <a:extLst>
              <a:ext uri="{FF2B5EF4-FFF2-40B4-BE49-F238E27FC236}">
                <a16:creationId xmlns:a16="http://schemas.microsoft.com/office/drawing/2014/main" id="{2E48513F-33E4-22F9-1483-6C9C9F2C2B43}"/>
              </a:ext>
            </a:extLst>
          </p:cNvPr>
          <p:cNvSpPr txBox="1">
            <a:spLocks/>
          </p:cNvSpPr>
          <p:nvPr/>
        </p:nvSpPr>
        <p:spPr>
          <a:xfrm>
            <a:off x="1121835" y="4389660"/>
            <a:ext cx="74838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12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2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2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2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2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2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2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2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 Tight SemiBold"/>
              <a:buNone/>
              <a:defRPr sz="2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r>
              <a:rPr lang="en-US" sz="1200" dirty="0">
                <a:solidFill>
                  <a:srgbClr val="F4BB00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REFERENCES</a:t>
            </a:r>
            <a:endParaRPr lang="en-IN" sz="1200" dirty="0">
              <a:solidFill>
                <a:srgbClr val="F4BB00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47" name="Google Shape;214;p29">
            <a:extLst>
              <a:ext uri="{FF2B5EF4-FFF2-40B4-BE49-F238E27FC236}">
                <a16:creationId xmlns:a16="http://schemas.microsoft.com/office/drawing/2014/main" id="{B1727072-764B-F101-25A4-02796D2AFB81}"/>
              </a:ext>
            </a:extLst>
          </p:cNvPr>
          <p:cNvSpPr txBox="1">
            <a:spLocks/>
          </p:cNvSpPr>
          <p:nvPr/>
        </p:nvSpPr>
        <p:spPr>
          <a:xfrm>
            <a:off x="440642" y="4389579"/>
            <a:ext cx="7278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erif Ethiopic"/>
              <a:buNone/>
              <a:defRPr sz="1400" b="0" i="0" u="none" strike="noStrike" cap="none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 dirty="0">
                <a:solidFill>
                  <a:srgbClr val="F4BB00"/>
                </a:solidFill>
              </a:rPr>
              <a:t>{10}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2C157FE-EC3F-6860-DBF3-D24A1FDA0E21}"/>
              </a:ext>
            </a:extLst>
          </p:cNvPr>
          <p:cNvSpPr txBox="1"/>
          <p:nvPr/>
        </p:nvSpPr>
        <p:spPr>
          <a:xfrm>
            <a:off x="99064" y="4792025"/>
            <a:ext cx="5661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4BB00"/>
                </a:solidFill>
                <a:latin typeface="Aptos" panose="020B0004020202020204" pitchFamily="34" charset="0"/>
              </a:rPr>
              <a:t>Artificial Intelligence &amp; Data Science – ADD 416 (Project Phase 2)</a:t>
            </a:r>
            <a:endParaRPr lang="en-IN" sz="1200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8BA127C-A12D-5A11-B728-B74768D9A6B0}"/>
              </a:ext>
            </a:extLst>
          </p:cNvPr>
          <p:cNvSpPr txBox="1"/>
          <p:nvPr/>
        </p:nvSpPr>
        <p:spPr>
          <a:xfrm>
            <a:off x="7117084" y="4752438"/>
            <a:ext cx="1501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05/02/2026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9239EFB-0889-8F22-B69F-A658E8E8BA5F}"/>
              </a:ext>
            </a:extLst>
          </p:cNvPr>
          <p:cNvSpPr txBox="1"/>
          <p:nvPr/>
        </p:nvSpPr>
        <p:spPr>
          <a:xfrm>
            <a:off x="8686804" y="4753777"/>
            <a:ext cx="426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03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439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205;p29">
            <a:extLst>
              <a:ext uri="{FF2B5EF4-FFF2-40B4-BE49-F238E27FC236}">
                <a16:creationId xmlns:a16="http://schemas.microsoft.com/office/drawing/2014/main" id="{FF086AB9-9EE6-91F6-02B0-FE76784354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1626" y="344482"/>
            <a:ext cx="8686800" cy="576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4BB00"/>
                </a:solidFill>
              </a:rPr>
              <a:t>INTRODUCTION</a:t>
            </a:r>
            <a:endParaRPr dirty="0">
              <a:solidFill>
                <a:srgbClr val="F4BB00"/>
              </a:solidFill>
            </a:endParaRPr>
          </a:p>
        </p:txBody>
      </p:sp>
      <p:sp>
        <p:nvSpPr>
          <p:cNvPr id="2" name="Google Shape;643;p64">
            <a:extLst>
              <a:ext uri="{FF2B5EF4-FFF2-40B4-BE49-F238E27FC236}">
                <a16:creationId xmlns:a16="http://schemas.microsoft.com/office/drawing/2014/main" id="{09FBA204-17A4-4912-483E-2279929999DE}"/>
              </a:ext>
            </a:extLst>
          </p:cNvPr>
          <p:cNvSpPr txBox="1">
            <a:spLocks/>
          </p:cNvSpPr>
          <p:nvPr/>
        </p:nvSpPr>
        <p:spPr>
          <a:xfrm>
            <a:off x="591386" y="1943107"/>
            <a:ext cx="3657592" cy="2092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4BB00"/>
                </a:solidFill>
              </a:rPr>
              <a:t>LLMs power agents, assistants, chatbots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4BB00"/>
                </a:solidFill>
              </a:rPr>
              <a:t>Need full context every prompt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4BB00"/>
                </a:solidFill>
              </a:rPr>
              <a:t>Memory grows with each query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4BB00"/>
                </a:solidFill>
              </a:rPr>
              <a:t>Causes token overflow and noise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4BB00"/>
                </a:solidFill>
              </a:rPr>
              <a:t>Inference cost and latency increase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4BB00"/>
                </a:solidFill>
              </a:rPr>
              <a:t>Performance degrades with irrelevant info</a:t>
            </a:r>
          </a:p>
        </p:txBody>
      </p:sp>
      <p:sp>
        <p:nvSpPr>
          <p:cNvPr id="3" name="Google Shape;644;p64">
            <a:extLst>
              <a:ext uri="{FF2B5EF4-FFF2-40B4-BE49-F238E27FC236}">
                <a16:creationId xmlns:a16="http://schemas.microsoft.com/office/drawing/2014/main" id="{376AAD1B-188A-BDFE-6A0D-ADB7498AF382}"/>
              </a:ext>
            </a:extLst>
          </p:cNvPr>
          <p:cNvSpPr txBox="1">
            <a:spLocks/>
          </p:cNvSpPr>
          <p:nvPr/>
        </p:nvSpPr>
        <p:spPr>
          <a:xfrm>
            <a:off x="535798" y="1098227"/>
            <a:ext cx="3432900" cy="7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oto Serif Ethiopic"/>
              <a:buNone/>
              <a:defRPr sz="3500" b="0" i="0" u="none" strike="noStrike" cap="none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IN" sz="2400" dirty="0">
                <a:solidFill>
                  <a:srgbClr val="F4BB00"/>
                </a:solidFill>
              </a:rPr>
              <a:t>Real World Relevance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10BBE5-E7B1-499A-4FA4-F9F87B9A5563}"/>
              </a:ext>
            </a:extLst>
          </p:cNvPr>
          <p:cNvSpPr txBox="1"/>
          <p:nvPr/>
        </p:nvSpPr>
        <p:spPr>
          <a:xfrm>
            <a:off x="99064" y="4792025"/>
            <a:ext cx="5661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4BB00"/>
                </a:solidFill>
                <a:latin typeface="Aptos" panose="020B0004020202020204" pitchFamily="34" charset="0"/>
              </a:rPr>
              <a:t>Artificial Intelligence &amp; Data Science – ADD 416 (Project Phase 2)</a:t>
            </a:r>
            <a:endParaRPr lang="en-IN" sz="1200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255ABB-8178-EF0A-436C-C2FF436BE85C}"/>
              </a:ext>
            </a:extLst>
          </p:cNvPr>
          <p:cNvSpPr txBox="1"/>
          <p:nvPr/>
        </p:nvSpPr>
        <p:spPr>
          <a:xfrm>
            <a:off x="7117084" y="4752438"/>
            <a:ext cx="1501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05/02/2026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E970BF-A0AE-526B-E261-EAE64465F0BF}"/>
              </a:ext>
            </a:extLst>
          </p:cNvPr>
          <p:cNvSpPr txBox="1"/>
          <p:nvPr/>
        </p:nvSpPr>
        <p:spPr>
          <a:xfrm>
            <a:off x="8686804" y="4753777"/>
            <a:ext cx="426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04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344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205;p29">
            <a:extLst>
              <a:ext uri="{FF2B5EF4-FFF2-40B4-BE49-F238E27FC236}">
                <a16:creationId xmlns:a16="http://schemas.microsoft.com/office/drawing/2014/main" id="{FF086AB9-9EE6-91F6-02B0-FE76784354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1626" y="344482"/>
            <a:ext cx="7841970" cy="576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4BB00"/>
                </a:solidFill>
              </a:rPr>
              <a:t>INTRODUCTION</a:t>
            </a:r>
            <a:endParaRPr dirty="0">
              <a:solidFill>
                <a:srgbClr val="F4BB00"/>
              </a:solidFill>
            </a:endParaRPr>
          </a:p>
        </p:txBody>
      </p:sp>
      <p:sp>
        <p:nvSpPr>
          <p:cNvPr id="2" name="Google Shape;643;p64">
            <a:extLst>
              <a:ext uri="{FF2B5EF4-FFF2-40B4-BE49-F238E27FC236}">
                <a16:creationId xmlns:a16="http://schemas.microsoft.com/office/drawing/2014/main" id="{09FBA204-17A4-4912-483E-2279929999DE}"/>
              </a:ext>
            </a:extLst>
          </p:cNvPr>
          <p:cNvSpPr txBox="1">
            <a:spLocks/>
          </p:cNvSpPr>
          <p:nvPr/>
        </p:nvSpPr>
        <p:spPr>
          <a:xfrm>
            <a:off x="591386" y="1943107"/>
            <a:ext cx="3980614" cy="2092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4BB00"/>
                </a:solidFill>
              </a:rPr>
              <a:t>Existing memory methods are naive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4BB00"/>
                </a:solidFill>
              </a:rPr>
              <a:t>Injects all past data blindly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4BB00"/>
                </a:solidFill>
              </a:rPr>
              <a:t>Wastes tokens, slows down output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4BB00"/>
                </a:solidFill>
              </a:rPr>
              <a:t>Requires smarter, relevant memory selection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 err="1">
                <a:solidFill>
                  <a:srgbClr val="F4BB00"/>
                </a:solidFill>
              </a:rPr>
              <a:t>Optimise</a:t>
            </a:r>
            <a:r>
              <a:rPr lang="en-US" sz="1400" dirty="0">
                <a:solidFill>
                  <a:srgbClr val="F4BB00"/>
                </a:solidFill>
              </a:rPr>
              <a:t> prompt, retain answer quality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4BB00"/>
                </a:solidFill>
              </a:rPr>
              <a:t>Adaptive system needed for relevance</a:t>
            </a:r>
          </a:p>
        </p:txBody>
      </p:sp>
      <p:sp>
        <p:nvSpPr>
          <p:cNvPr id="3" name="Google Shape;644;p64">
            <a:extLst>
              <a:ext uri="{FF2B5EF4-FFF2-40B4-BE49-F238E27FC236}">
                <a16:creationId xmlns:a16="http://schemas.microsoft.com/office/drawing/2014/main" id="{376AAD1B-188A-BDFE-6A0D-ADB7498AF382}"/>
              </a:ext>
            </a:extLst>
          </p:cNvPr>
          <p:cNvSpPr txBox="1">
            <a:spLocks/>
          </p:cNvSpPr>
          <p:nvPr/>
        </p:nvSpPr>
        <p:spPr>
          <a:xfrm>
            <a:off x="535798" y="1098227"/>
            <a:ext cx="3432900" cy="7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oto Serif Ethiopic"/>
              <a:buNone/>
              <a:defRPr sz="3500" b="0" i="0" u="none" strike="noStrike" cap="none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2400" dirty="0">
                <a:solidFill>
                  <a:srgbClr val="F4BB00"/>
                </a:solidFill>
              </a:rPr>
              <a:t>M</a:t>
            </a:r>
            <a:r>
              <a:rPr lang="en-IN" sz="2400" dirty="0" err="1">
                <a:solidFill>
                  <a:srgbClr val="F4BB00"/>
                </a:solidFill>
              </a:rPr>
              <a:t>otivation</a:t>
            </a:r>
            <a:endParaRPr lang="en-IN" sz="2400" dirty="0">
              <a:solidFill>
                <a:srgbClr val="F4BB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5B250F-03D8-07BB-AC92-BCFB5D24A56E}"/>
              </a:ext>
            </a:extLst>
          </p:cNvPr>
          <p:cNvSpPr txBox="1"/>
          <p:nvPr/>
        </p:nvSpPr>
        <p:spPr>
          <a:xfrm>
            <a:off x="99064" y="4792025"/>
            <a:ext cx="5661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4BB00"/>
                </a:solidFill>
                <a:latin typeface="Aptos" panose="020B0004020202020204" pitchFamily="34" charset="0"/>
              </a:rPr>
              <a:t>Artificial Intelligence &amp; Data Science – ADD 416 (Project Phase 2)</a:t>
            </a:r>
            <a:endParaRPr lang="en-IN" sz="1200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987DB1-435F-B5E6-4074-03D99561CFEF}"/>
              </a:ext>
            </a:extLst>
          </p:cNvPr>
          <p:cNvSpPr txBox="1"/>
          <p:nvPr/>
        </p:nvSpPr>
        <p:spPr>
          <a:xfrm>
            <a:off x="7117084" y="4752438"/>
            <a:ext cx="1501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05/02/2026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F4A14-006B-1091-CC0A-B52C1AD45977}"/>
              </a:ext>
            </a:extLst>
          </p:cNvPr>
          <p:cNvSpPr txBox="1"/>
          <p:nvPr/>
        </p:nvSpPr>
        <p:spPr>
          <a:xfrm>
            <a:off x="8686804" y="4753777"/>
            <a:ext cx="426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05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839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205;p29">
            <a:extLst>
              <a:ext uri="{FF2B5EF4-FFF2-40B4-BE49-F238E27FC236}">
                <a16:creationId xmlns:a16="http://schemas.microsoft.com/office/drawing/2014/main" id="{FF086AB9-9EE6-91F6-02B0-FE76784354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1626" y="344482"/>
            <a:ext cx="7623309" cy="576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4BB00"/>
                </a:solidFill>
              </a:rPr>
              <a:t>PROBLEM STATEMENT</a:t>
            </a:r>
            <a:endParaRPr dirty="0">
              <a:solidFill>
                <a:srgbClr val="F4BB00"/>
              </a:solidFill>
            </a:endParaRPr>
          </a:p>
        </p:txBody>
      </p:sp>
      <p:sp>
        <p:nvSpPr>
          <p:cNvPr id="2" name="Google Shape;643;p64">
            <a:extLst>
              <a:ext uri="{FF2B5EF4-FFF2-40B4-BE49-F238E27FC236}">
                <a16:creationId xmlns:a16="http://schemas.microsoft.com/office/drawing/2014/main" id="{09FBA204-17A4-4912-483E-2279929999DE}"/>
              </a:ext>
            </a:extLst>
          </p:cNvPr>
          <p:cNvSpPr txBox="1">
            <a:spLocks/>
          </p:cNvSpPr>
          <p:nvPr/>
        </p:nvSpPr>
        <p:spPr>
          <a:xfrm>
            <a:off x="591386" y="1943107"/>
            <a:ext cx="3980614" cy="2092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4BB00"/>
                </a:solidFill>
              </a:rPr>
              <a:t>LLMs are stateless and verbose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4BB00"/>
                </a:solidFill>
              </a:rPr>
              <a:t>Context windows are limited (4k–32k)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4BB00"/>
                </a:solidFill>
              </a:rPr>
              <a:t>Naive memory causes token bloat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4BB00"/>
                </a:solidFill>
              </a:rPr>
              <a:t>High cost, low response accuracy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4BB00"/>
                </a:solidFill>
              </a:rPr>
              <a:t>Static prompts don't scale well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4BB00"/>
                </a:solidFill>
              </a:rPr>
              <a:t>Needs real-time, dynamic filtering</a:t>
            </a:r>
          </a:p>
        </p:txBody>
      </p:sp>
      <p:sp>
        <p:nvSpPr>
          <p:cNvPr id="3" name="Google Shape;644;p64">
            <a:extLst>
              <a:ext uri="{FF2B5EF4-FFF2-40B4-BE49-F238E27FC236}">
                <a16:creationId xmlns:a16="http://schemas.microsoft.com/office/drawing/2014/main" id="{376AAD1B-188A-BDFE-6A0D-ADB7498AF382}"/>
              </a:ext>
            </a:extLst>
          </p:cNvPr>
          <p:cNvSpPr txBox="1">
            <a:spLocks/>
          </p:cNvSpPr>
          <p:nvPr/>
        </p:nvSpPr>
        <p:spPr>
          <a:xfrm>
            <a:off x="535798" y="1098227"/>
            <a:ext cx="3432900" cy="7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oto Serif Ethiopic"/>
              <a:buNone/>
              <a:defRPr sz="3500" b="0" i="0" u="none" strike="noStrike" cap="none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2400" dirty="0">
                <a:solidFill>
                  <a:srgbClr val="F4BB00"/>
                </a:solidFill>
              </a:rPr>
              <a:t>Current State</a:t>
            </a:r>
            <a:endParaRPr lang="en-IN" sz="2400" dirty="0">
              <a:solidFill>
                <a:srgbClr val="F4BB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388B04-3D01-2840-CB4D-6BF1DAC8E053}"/>
              </a:ext>
            </a:extLst>
          </p:cNvPr>
          <p:cNvSpPr txBox="1"/>
          <p:nvPr/>
        </p:nvSpPr>
        <p:spPr>
          <a:xfrm>
            <a:off x="99064" y="4792025"/>
            <a:ext cx="5661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4BB00"/>
                </a:solidFill>
                <a:latin typeface="Aptos" panose="020B0004020202020204" pitchFamily="34" charset="0"/>
              </a:rPr>
              <a:t>Artificial Intelligence &amp; Data Science – ADD 416 (Project Phase 2)</a:t>
            </a:r>
            <a:endParaRPr lang="en-IN" sz="1200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B7A30A-E63D-74F6-75C1-0D5ECF535AA1}"/>
              </a:ext>
            </a:extLst>
          </p:cNvPr>
          <p:cNvSpPr txBox="1"/>
          <p:nvPr/>
        </p:nvSpPr>
        <p:spPr>
          <a:xfrm>
            <a:off x="7117084" y="4752438"/>
            <a:ext cx="1501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05/02/2026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D186B6-690B-5057-4164-E3B0379FE7B4}"/>
              </a:ext>
            </a:extLst>
          </p:cNvPr>
          <p:cNvSpPr txBox="1"/>
          <p:nvPr/>
        </p:nvSpPr>
        <p:spPr>
          <a:xfrm>
            <a:off x="8686804" y="4753777"/>
            <a:ext cx="426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06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159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1"/>
          <p:cNvSpPr txBox="1">
            <a:spLocks noGrp="1"/>
          </p:cNvSpPr>
          <p:nvPr>
            <p:ph type="subTitle" idx="7"/>
          </p:nvPr>
        </p:nvSpPr>
        <p:spPr>
          <a:xfrm>
            <a:off x="1434138" y="1806700"/>
            <a:ext cx="19008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F4BB00"/>
                </a:solidFill>
              </a:rPr>
              <a:t>Token Efficiency</a:t>
            </a:r>
            <a:endParaRPr sz="2000" dirty="0">
              <a:solidFill>
                <a:srgbClr val="F4BB00"/>
              </a:solidFill>
            </a:endParaRPr>
          </a:p>
        </p:txBody>
      </p:sp>
      <p:sp>
        <p:nvSpPr>
          <p:cNvPr id="505" name="Google Shape;505;p51"/>
          <p:cNvSpPr txBox="1">
            <a:spLocks noGrp="1"/>
          </p:cNvSpPr>
          <p:nvPr>
            <p:ph type="subTitle" idx="4"/>
          </p:nvPr>
        </p:nvSpPr>
        <p:spPr>
          <a:xfrm>
            <a:off x="1438125" y="3560575"/>
            <a:ext cx="190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4BB00"/>
                </a:solidFill>
              </a:rPr>
              <a:t>Provide visual feedback to users</a:t>
            </a:r>
          </a:p>
        </p:txBody>
      </p:sp>
      <p:sp>
        <p:nvSpPr>
          <p:cNvPr id="506" name="Google Shape;506;p51"/>
          <p:cNvSpPr txBox="1">
            <a:spLocks noGrp="1"/>
          </p:cNvSpPr>
          <p:nvPr>
            <p:ph type="subTitle" idx="5"/>
          </p:nvPr>
        </p:nvSpPr>
        <p:spPr>
          <a:xfrm>
            <a:off x="3621606" y="3560575"/>
            <a:ext cx="190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F4BB00"/>
                </a:solidFill>
              </a:rPr>
              <a:t>Learn memory relevance dynamically</a:t>
            </a:r>
          </a:p>
        </p:txBody>
      </p:sp>
      <p:sp>
        <p:nvSpPr>
          <p:cNvPr id="507" name="Google Shape;507;p51"/>
          <p:cNvSpPr txBox="1">
            <a:spLocks noGrp="1"/>
          </p:cNvSpPr>
          <p:nvPr>
            <p:ph type="subTitle" idx="1"/>
          </p:nvPr>
        </p:nvSpPr>
        <p:spPr>
          <a:xfrm>
            <a:off x="1438125" y="2142401"/>
            <a:ext cx="190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F4BB00"/>
                </a:solidFill>
              </a:rPr>
              <a:t>Minimise token usage efficiently</a:t>
            </a:r>
          </a:p>
        </p:txBody>
      </p:sp>
      <p:sp>
        <p:nvSpPr>
          <p:cNvPr id="508" name="Google Shape;508;p51"/>
          <p:cNvSpPr txBox="1">
            <a:spLocks noGrp="1"/>
          </p:cNvSpPr>
          <p:nvPr>
            <p:ph type="subTitle" idx="13"/>
          </p:nvPr>
        </p:nvSpPr>
        <p:spPr>
          <a:xfrm>
            <a:off x="1434138" y="3219900"/>
            <a:ext cx="19008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F4BB00"/>
                </a:solidFill>
              </a:rPr>
              <a:t>Visual Monitoring</a:t>
            </a:r>
            <a:endParaRPr sz="2000" dirty="0">
              <a:solidFill>
                <a:srgbClr val="F4BB00"/>
              </a:solidFill>
            </a:endParaRPr>
          </a:p>
        </p:txBody>
      </p:sp>
      <p:sp>
        <p:nvSpPr>
          <p:cNvPr id="509" name="Google Shape;509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4BB00"/>
                </a:solidFill>
              </a:rPr>
              <a:t>OBJECTIVES</a:t>
            </a:r>
            <a:endParaRPr dirty="0">
              <a:solidFill>
                <a:srgbClr val="F4BB00"/>
              </a:solidFill>
            </a:endParaRPr>
          </a:p>
        </p:txBody>
      </p:sp>
      <p:sp>
        <p:nvSpPr>
          <p:cNvPr id="510" name="Google Shape;510;p51"/>
          <p:cNvSpPr txBox="1">
            <a:spLocks noGrp="1"/>
          </p:cNvSpPr>
          <p:nvPr>
            <p:ph type="subTitle" idx="8"/>
          </p:nvPr>
        </p:nvSpPr>
        <p:spPr>
          <a:xfrm>
            <a:off x="3621606" y="1806700"/>
            <a:ext cx="19008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F4BB00"/>
                </a:solidFill>
              </a:rPr>
              <a:t>Hybrid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F4BB00"/>
                </a:solidFill>
              </a:rPr>
              <a:t>Gating</a:t>
            </a:r>
            <a:endParaRPr sz="2000" dirty="0">
              <a:solidFill>
                <a:srgbClr val="F4BB00"/>
              </a:solidFill>
            </a:endParaRPr>
          </a:p>
        </p:txBody>
      </p:sp>
      <p:sp>
        <p:nvSpPr>
          <p:cNvPr id="511" name="Google Shape;511;p51"/>
          <p:cNvSpPr txBox="1">
            <a:spLocks noGrp="1"/>
          </p:cNvSpPr>
          <p:nvPr>
            <p:ph type="subTitle" idx="9"/>
          </p:nvPr>
        </p:nvSpPr>
        <p:spPr>
          <a:xfrm>
            <a:off x="5809073" y="1806700"/>
            <a:ext cx="19008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F4BB00"/>
                </a:solidFill>
              </a:rPr>
              <a:t>Response Quality</a:t>
            </a:r>
            <a:endParaRPr sz="2000" dirty="0">
              <a:solidFill>
                <a:srgbClr val="F4BB00"/>
              </a:solidFill>
            </a:endParaRPr>
          </a:p>
        </p:txBody>
      </p:sp>
      <p:sp>
        <p:nvSpPr>
          <p:cNvPr id="512" name="Google Shape;512;p51"/>
          <p:cNvSpPr txBox="1">
            <a:spLocks noGrp="1"/>
          </p:cNvSpPr>
          <p:nvPr>
            <p:ph type="subTitle" idx="2"/>
          </p:nvPr>
        </p:nvSpPr>
        <p:spPr>
          <a:xfrm>
            <a:off x="3621606" y="2142401"/>
            <a:ext cx="190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F4BB00"/>
                </a:solidFill>
              </a:rPr>
              <a:t>Use multiple gating strategies</a:t>
            </a:r>
          </a:p>
        </p:txBody>
      </p:sp>
      <p:sp>
        <p:nvSpPr>
          <p:cNvPr id="513" name="Google Shape;513;p51"/>
          <p:cNvSpPr txBox="1">
            <a:spLocks noGrp="1"/>
          </p:cNvSpPr>
          <p:nvPr>
            <p:ph type="subTitle" idx="3"/>
          </p:nvPr>
        </p:nvSpPr>
        <p:spPr>
          <a:xfrm>
            <a:off x="5805086" y="2142401"/>
            <a:ext cx="190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F4BB00"/>
                </a:solidFill>
              </a:rPr>
              <a:t>Maintain or improve response quality</a:t>
            </a:r>
          </a:p>
        </p:txBody>
      </p:sp>
      <p:sp>
        <p:nvSpPr>
          <p:cNvPr id="514" name="Google Shape;514;p51"/>
          <p:cNvSpPr txBox="1">
            <a:spLocks noGrp="1"/>
          </p:cNvSpPr>
          <p:nvPr>
            <p:ph type="subTitle" idx="6"/>
          </p:nvPr>
        </p:nvSpPr>
        <p:spPr>
          <a:xfrm>
            <a:off x="5844846" y="3560575"/>
            <a:ext cx="190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F4BB00"/>
                </a:solidFill>
              </a:rPr>
              <a:t>Deploy a plug-and-play system</a:t>
            </a:r>
          </a:p>
        </p:txBody>
      </p:sp>
      <p:sp>
        <p:nvSpPr>
          <p:cNvPr id="515" name="Google Shape;515;p51"/>
          <p:cNvSpPr txBox="1">
            <a:spLocks noGrp="1"/>
          </p:cNvSpPr>
          <p:nvPr>
            <p:ph type="subTitle" idx="14"/>
          </p:nvPr>
        </p:nvSpPr>
        <p:spPr>
          <a:xfrm>
            <a:off x="3621606" y="3219900"/>
            <a:ext cx="19008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F4BB00"/>
                </a:solidFill>
              </a:rPr>
              <a:t>Dynamic Monitoring</a:t>
            </a:r>
            <a:endParaRPr sz="2000" dirty="0">
              <a:solidFill>
                <a:srgbClr val="F4BB00"/>
              </a:solidFill>
            </a:endParaRPr>
          </a:p>
        </p:txBody>
      </p:sp>
      <p:sp>
        <p:nvSpPr>
          <p:cNvPr id="516" name="Google Shape;516;p51"/>
          <p:cNvSpPr txBox="1">
            <a:spLocks noGrp="1"/>
          </p:cNvSpPr>
          <p:nvPr>
            <p:ph type="subTitle" idx="15"/>
          </p:nvPr>
        </p:nvSpPr>
        <p:spPr>
          <a:xfrm>
            <a:off x="5809073" y="3219900"/>
            <a:ext cx="19008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F4BB00"/>
                </a:solidFill>
              </a:rPr>
              <a:t>Easy Deployment</a:t>
            </a:r>
            <a:endParaRPr sz="2000" dirty="0">
              <a:solidFill>
                <a:srgbClr val="F4BB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F22DB2-AA0A-FD81-0CB4-E5D78D2F486A}"/>
              </a:ext>
            </a:extLst>
          </p:cNvPr>
          <p:cNvSpPr txBox="1"/>
          <p:nvPr/>
        </p:nvSpPr>
        <p:spPr>
          <a:xfrm>
            <a:off x="99064" y="4792025"/>
            <a:ext cx="5661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4BB00"/>
                </a:solidFill>
                <a:latin typeface="Aptos" panose="020B0004020202020204" pitchFamily="34" charset="0"/>
              </a:rPr>
              <a:t>Artificial Intelligence &amp; Data Science – ADD 416 (Project Phase 2)</a:t>
            </a:r>
            <a:endParaRPr lang="en-IN" sz="1200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24EE47-6538-BCAF-FF5E-9EC2CFC810F9}"/>
              </a:ext>
            </a:extLst>
          </p:cNvPr>
          <p:cNvSpPr txBox="1"/>
          <p:nvPr/>
        </p:nvSpPr>
        <p:spPr>
          <a:xfrm>
            <a:off x="7117084" y="4752438"/>
            <a:ext cx="1501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05/02/2026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6EF8CF-1118-8F6E-2B42-8E6348BF9331}"/>
              </a:ext>
            </a:extLst>
          </p:cNvPr>
          <p:cNvSpPr txBox="1"/>
          <p:nvPr/>
        </p:nvSpPr>
        <p:spPr>
          <a:xfrm>
            <a:off x="8686804" y="4753777"/>
            <a:ext cx="426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07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278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3A407F1-A833-68B1-29CB-29120E8EA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743277"/>
              </p:ext>
            </p:extLst>
          </p:nvPr>
        </p:nvGraphicFramePr>
        <p:xfrm>
          <a:off x="627661" y="1177857"/>
          <a:ext cx="7776000" cy="3672000"/>
        </p:xfrm>
        <a:graphic>
          <a:graphicData uri="http://schemas.openxmlformats.org/drawingml/2006/table">
            <a:tbl>
              <a:tblPr firstRow="1" bandRow="1">
                <a:tableStyleId>{AFCF28DC-DEE4-481E-A94D-893439FE2D8F}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2192129992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628249303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1349873666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839944468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4231036452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512468084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Memory Reduction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Throughput Gain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Requires Tuning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Key Strength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Alignment with Token Optimiser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3227699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r>
                        <a:rPr lang="en-IN" sz="110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KVPruner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~50%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~35%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Sensitivity-based channel pruning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Gating logic inspiration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000033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r>
                        <a:rPr lang="en-IN" sz="110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PyramidInfer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~54%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~2.2×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Layer-wise pruning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Hierarchical relevance modeling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473550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r>
                        <a:rPr lang="en-IN" sz="110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RazorAttention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&gt;70%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~3×+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Head-based attention filtering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Attention-driven gating logic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641270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r>
                        <a:rPr lang="en-IN" sz="110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R‑KV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~84–90%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~6.6×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CoT reasoning specificity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Redundancy-aware gating principles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379725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r>
                        <a:rPr lang="en-IN" sz="110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Cache‑Craft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10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N/A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Huge (system)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Chunk reuse for RAG efficiency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accent3"/>
                          </a:solidFill>
                          <a:latin typeface="Akatab" panose="020B0604020202020204" charset="0"/>
                          <a:ea typeface="Akatab" panose="020B0604020202020204" charset="0"/>
                          <a:cs typeface="Akatab" panose="020B0604020202020204" charset="0"/>
                        </a:rPr>
                        <a:t>Efficient memory reuse in conversations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14474584"/>
                  </a:ext>
                </a:extLst>
              </a:tr>
            </a:tbl>
          </a:graphicData>
        </a:graphic>
      </p:graphicFrame>
      <p:sp>
        <p:nvSpPr>
          <p:cNvPr id="390" name="Google Shape;390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>
                <a:solidFill>
                  <a:srgbClr val="F4BB00"/>
                </a:solidFill>
              </a:rPr>
              <a:t>LITERATURE REVIEW/EXISTING SYSTEMS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996789-F8D7-921D-ACD4-47C36E56597D}"/>
              </a:ext>
            </a:extLst>
          </p:cNvPr>
          <p:cNvSpPr txBox="1"/>
          <p:nvPr/>
        </p:nvSpPr>
        <p:spPr>
          <a:xfrm>
            <a:off x="99064" y="4792025"/>
            <a:ext cx="5661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4BB00"/>
                </a:solidFill>
                <a:latin typeface="Aptos" panose="020B0004020202020204" pitchFamily="34" charset="0"/>
              </a:rPr>
              <a:t>Artificial Intelligence &amp; Data Science – ADD 416 (Project Phase 2)</a:t>
            </a:r>
            <a:endParaRPr lang="en-IN" sz="1200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CC53BE-D81E-974B-6D14-D26EBBC8BCD9}"/>
              </a:ext>
            </a:extLst>
          </p:cNvPr>
          <p:cNvSpPr txBox="1"/>
          <p:nvPr/>
        </p:nvSpPr>
        <p:spPr>
          <a:xfrm>
            <a:off x="7117084" y="4752438"/>
            <a:ext cx="1501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05/02/2026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AEA7A5-245A-BE54-9CCF-9C0FF59DF942}"/>
              </a:ext>
            </a:extLst>
          </p:cNvPr>
          <p:cNvSpPr txBox="1"/>
          <p:nvPr/>
        </p:nvSpPr>
        <p:spPr>
          <a:xfrm>
            <a:off x="8686804" y="4753777"/>
            <a:ext cx="426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08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F4BB00"/>
                </a:solidFill>
              </a:rPr>
              <a:t>PROPOSED METHODOLOGY/SOLUTION</a:t>
            </a:r>
            <a:endParaRPr sz="2800" dirty="0">
              <a:solidFill>
                <a:srgbClr val="F4BB00"/>
              </a:solidFill>
            </a:endParaRPr>
          </a:p>
        </p:txBody>
      </p:sp>
      <p:sp>
        <p:nvSpPr>
          <p:cNvPr id="2" name="Google Shape;643;p64">
            <a:extLst>
              <a:ext uri="{FF2B5EF4-FFF2-40B4-BE49-F238E27FC236}">
                <a16:creationId xmlns:a16="http://schemas.microsoft.com/office/drawing/2014/main" id="{29113444-F5BF-7826-B5E3-43182F33B58B}"/>
              </a:ext>
            </a:extLst>
          </p:cNvPr>
          <p:cNvSpPr txBox="1">
            <a:spLocks/>
          </p:cNvSpPr>
          <p:nvPr/>
        </p:nvSpPr>
        <p:spPr>
          <a:xfrm>
            <a:off x="634700" y="1110522"/>
            <a:ext cx="3980614" cy="2092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4BB00"/>
                </a:solidFill>
              </a:rPr>
              <a:t>Query → Memory → Gating → Prompt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4BB00"/>
                </a:solidFill>
              </a:rPr>
              <a:t>Only top-K relevant entries injected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4BB00"/>
                </a:solidFill>
              </a:rPr>
              <a:t>Prompt sent to LLM API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4BB00"/>
                </a:solidFill>
              </a:rPr>
              <a:t>Response updates memory (optional)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4BB00"/>
                </a:solidFill>
              </a:rPr>
              <a:t>Fast, adaptive, cost-effective pipeline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4BB00"/>
                </a:solidFill>
              </a:rPr>
              <a:t>Uses embeddings, attention, classifiers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44CF5-9E67-02B2-9C5C-1948F2FDA08E}"/>
              </a:ext>
            </a:extLst>
          </p:cNvPr>
          <p:cNvSpPr txBox="1"/>
          <p:nvPr/>
        </p:nvSpPr>
        <p:spPr>
          <a:xfrm>
            <a:off x="99064" y="4792025"/>
            <a:ext cx="5661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4BB00"/>
                </a:solidFill>
                <a:latin typeface="Aptos" panose="020B0004020202020204" pitchFamily="34" charset="0"/>
              </a:rPr>
              <a:t>Artificial Intelligence &amp; Data Science – ADD 416 (Project Phase 2)</a:t>
            </a:r>
            <a:endParaRPr lang="en-IN" sz="1200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6F2A1B-EB1C-025B-5FF6-7F733321D942}"/>
              </a:ext>
            </a:extLst>
          </p:cNvPr>
          <p:cNvSpPr txBox="1"/>
          <p:nvPr/>
        </p:nvSpPr>
        <p:spPr>
          <a:xfrm>
            <a:off x="7117084" y="4752438"/>
            <a:ext cx="1501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05/02/2026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42C135-974F-7DED-3D54-F7389CAD4550}"/>
              </a:ext>
            </a:extLst>
          </p:cNvPr>
          <p:cNvSpPr txBox="1"/>
          <p:nvPr/>
        </p:nvSpPr>
        <p:spPr>
          <a:xfrm>
            <a:off x="8686804" y="4753777"/>
            <a:ext cx="426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09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924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: Top Corners Rounded 48">
            <a:extLst>
              <a:ext uri="{FF2B5EF4-FFF2-40B4-BE49-F238E27FC236}">
                <a16:creationId xmlns:a16="http://schemas.microsoft.com/office/drawing/2014/main" id="{8779203E-FEB6-1573-B295-17BCCF2780DE}"/>
              </a:ext>
            </a:extLst>
          </p:cNvPr>
          <p:cNvSpPr/>
          <p:nvPr/>
        </p:nvSpPr>
        <p:spPr>
          <a:xfrm>
            <a:off x="5965149" y="1572924"/>
            <a:ext cx="1734377" cy="2067339"/>
          </a:xfrm>
          <a:prstGeom prst="round2Same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Chat History</a:t>
            </a:r>
          </a:p>
          <a:p>
            <a:pPr algn="ctr"/>
            <a:endParaRPr lang="en-US" dirty="0">
              <a:solidFill>
                <a:schemeClr val="accent6"/>
              </a:solidFill>
            </a:endParaRPr>
          </a:p>
          <a:p>
            <a:pPr algn="ctr"/>
            <a:endParaRPr lang="en-US" dirty="0">
              <a:solidFill>
                <a:schemeClr val="accent6"/>
              </a:solidFill>
            </a:endParaRPr>
          </a:p>
          <a:p>
            <a:pPr algn="ctr"/>
            <a:endParaRPr lang="en-US" dirty="0">
              <a:solidFill>
                <a:schemeClr val="accent6"/>
              </a:solidFill>
            </a:endParaRPr>
          </a:p>
          <a:p>
            <a:pPr algn="ctr"/>
            <a:endParaRPr lang="en-US" dirty="0">
              <a:solidFill>
                <a:schemeClr val="accent6"/>
              </a:solidFill>
            </a:endParaRPr>
          </a:p>
          <a:p>
            <a:pPr algn="ctr"/>
            <a:endParaRPr lang="en-US" dirty="0">
              <a:solidFill>
                <a:schemeClr val="accent6"/>
              </a:solidFill>
            </a:endParaRPr>
          </a:p>
          <a:p>
            <a:pPr algn="ctr"/>
            <a:endParaRPr lang="en-US" dirty="0">
              <a:solidFill>
                <a:schemeClr val="accent6"/>
              </a:solidFill>
            </a:endParaRPr>
          </a:p>
          <a:p>
            <a:pPr algn="ctr"/>
            <a:endParaRPr lang="en-US" dirty="0">
              <a:solidFill>
                <a:schemeClr val="accent6"/>
              </a:solidFill>
            </a:endParaRPr>
          </a:p>
          <a:p>
            <a:pPr algn="ctr"/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509" name="Google Shape;509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F4BB00"/>
                </a:solidFill>
              </a:rPr>
              <a:t>PROPOSED METHODOLOGY/SOLUTION</a:t>
            </a:r>
            <a:endParaRPr sz="2800" dirty="0">
              <a:solidFill>
                <a:srgbClr val="F4BB00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9971D5C-7BC0-6738-DC35-36114CD7AEEB}"/>
              </a:ext>
            </a:extLst>
          </p:cNvPr>
          <p:cNvSpPr/>
          <p:nvPr/>
        </p:nvSpPr>
        <p:spPr>
          <a:xfrm>
            <a:off x="3634423" y="3768637"/>
            <a:ext cx="899491" cy="327991"/>
          </a:xfrm>
          <a:prstGeom prst="roundRect">
            <a:avLst/>
          </a:prstGeom>
          <a:noFill/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Answer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0FA375D-6542-A04B-B12B-2B557DDC2224}"/>
              </a:ext>
            </a:extLst>
          </p:cNvPr>
          <p:cNvSpPr/>
          <p:nvPr/>
        </p:nvSpPr>
        <p:spPr>
          <a:xfrm>
            <a:off x="3634422" y="3091119"/>
            <a:ext cx="899491" cy="327991"/>
          </a:xfrm>
          <a:prstGeom prst="roundRect">
            <a:avLst/>
          </a:prstGeom>
          <a:noFill/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LLM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7DD39C-287D-4D5A-6BDC-A0643580C271}"/>
              </a:ext>
            </a:extLst>
          </p:cNvPr>
          <p:cNvSpPr/>
          <p:nvPr/>
        </p:nvSpPr>
        <p:spPr>
          <a:xfrm>
            <a:off x="3609000" y="2395722"/>
            <a:ext cx="950336" cy="487852"/>
          </a:xfrm>
          <a:prstGeom prst="roundRect">
            <a:avLst/>
          </a:prstGeom>
          <a:noFill/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Context window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32DC78C-773A-F830-0C15-581D407A48A0}"/>
              </a:ext>
            </a:extLst>
          </p:cNvPr>
          <p:cNvSpPr/>
          <p:nvPr/>
        </p:nvSpPr>
        <p:spPr>
          <a:xfrm>
            <a:off x="3629451" y="1616409"/>
            <a:ext cx="899491" cy="552854"/>
          </a:xfrm>
          <a:prstGeom prst="roundRect">
            <a:avLst/>
          </a:prstGeom>
          <a:noFill/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User Input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46232DA-6E63-5758-AB1E-ECDAD91056B6}"/>
              </a:ext>
            </a:extLst>
          </p:cNvPr>
          <p:cNvSpPr/>
          <p:nvPr/>
        </p:nvSpPr>
        <p:spPr>
          <a:xfrm>
            <a:off x="1517709" y="2372598"/>
            <a:ext cx="1181098" cy="487852"/>
          </a:xfrm>
          <a:prstGeom prst="roundRect">
            <a:avLst/>
          </a:prstGeom>
          <a:noFill/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External</a:t>
            </a:r>
          </a:p>
          <a:p>
            <a:pPr algn="ctr"/>
            <a:r>
              <a:rPr lang="en-US" dirty="0">
                <a:solidFill>
                  <a:schemeClr val="accent6"/>
                </a:solidFill>
              </a:rPr>
              <a:t>Documents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106804-74DA-B671-2FCB-20830E1591CE}"/>
              </a:ext>
            </a:extLst>
          </p:cNvPr>
          <p:cNvSpPr/>
          <p:nvPr/>
        </p:nvSpPr>
        <p:spPr>
          <a:xfrm>
            <a:off x="6110362" y="2384927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M5</a:t>
            </a:r>
            <a:endParaRPr lang="en-IN" sz="9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A5588B0-6774-0077-5AD8-E5FBD5CDF2A3}"/>
              </a:ext>
            </a:extLst>
          </p:cNvPr>
          <p:cNvSpPr/>
          <p:nvPr/>
        </p:nvSpPr>
        <p:spPr>
          <a:xfrm>
            <a:off x="6470362" y="2384927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M6</a:t>
            </a:r>
            <a:endParaRPr lang="en-IN" sz="9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025E711-B410-6211-98E0-08DB4A16902D}"/>
              </a:ext>
            </a:extLst>
          </p:cNvPr>
          <p:cNvSpPr/>
          <p:nvPr/>
        </p:nvSpPr>
        <p:spPr>
          <a:xfrm>
            <a:off x="6830362" y="2384927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M7</a:t>
            </a:r>
            <a:endParaRPr lang="en-IN" sz="9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CE20CB9-4A14-675E-9C02-6E0BED81DFCF}"/>
              </a:ext>
            </a:extLst>
          </p:cNvPr>
          <p:cNvSpPr/>
          <p:nvPr/>
        </p:nvSpPr>
        <p:spPr>
          <a:xfrm>
            <a:off x="7190362" y="2384927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M8</a:t>
            </a:r>
            <a:endParaRPr lang="en-IN" sz="9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477CF1-DFB4-AEBE-C28F-B0A231D8ADF1}"/>
              </a:ext>
            </a:extLst>
          </p:cNvPr>
          <p:cNvSpPr/>
          <p:nvPr/>
        </p:nvSpPr>
        <p:spPr>
          <a:xfrm>
            <a:off x="6110362" y="2024927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M1</a:t>
            </a:r>
            <a:endParaRPr lang="en-IN" sz="9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E4675DF-82DE-A20E-D11B-9D0ECED86245}"/>
              </a:ext>
            </a:extLst>
          </p:cNvPr>
          <p:cNvSpPr/>
          <p:nvPr/>
        </p:nvSpPr>
        <p:spPr>
          <a:xfrm>
            <a:off x="6470362" y="2024927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M2</a:t>
            </a:r>
            <a:endParaRPr lang="en-IN" sz="9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F64EB0D-9D71-CC46-23BE-6E1027C53C6D}"/>
              </a:ext>
            </a:extLst>
          </p:cNvPr>
          <p:cNvSpPr/>
          <p:nvPr/>
        </p:nvSpPr>
        <p:spPr>
          <a:xfrm>
            <a:off x="6830362" y="2024927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M3</a:t>
            </a:r>
            <a:endParaRPr lang="en-IN" sz="9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DE4A9A5-9105-CCA1-0F30-4434630BB484}"/>
              </a:ext>
            </a:extLst>
          </p:cNvPr>
          <p:cNvSpPr/>
          <p:nvPr/>
        </p:nvSpPr>
        <p:spPr>
          <a:xfrm>
            <a:off x="7190362" y="2024927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M4</a:t>
            </a:r>
            <a:endParaRPr lang="en-IN" sz="9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EAA13E3-3D95-49A7-EE7B-92CB5CA5BF4E}"/>
              </a:ext>
            </a:extLst>
          </p:cNvPr>
          <p:cNvSpPr/>
          <p:nvPr/>
        </p:nvSpPr>
        <p:spPr>
          <a:xfrm>
            <a:off x="6110362" y="3104927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M13</a:t>
            </a:r>
            <a:endParaRPr lang="en-IN" sz="7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500BE28-C638-DCF2-DCB6-28E28EC4867F}"/>
              </a:ext>
            </a:extLst>
          </p:cNvPr>
          <p:cNvSpPr/>
          <p:nvPr/>
        </p:nvSpPr>
        <p:spPr>
          <a:xfrm>
            <a:off x="6470362" y="3104927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M14</a:t>
            </a:r>
            <a:endParaRPr lang="en-IN" sz="7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EABC26F-82A2-005B-3D04-F36CA6D34B26}"/>
              </a:ext>
            </a:extLst>
          </p:cNvPr>
          <p:cNvSpPr/>
          <p:nvPr/>
        </p:nvSpPr>
        <p:spPr>
          <a:xfrm>
            <a:off x="6830362" y="3104927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M15</a:t>
            </a:r>
            <a:endParaRPr lang="en-IN" sz="7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2A9652A-EDF0-85D5-EF00-B33A23ABCB5F}"/>
              </a:ext>
            </a:extLst>
          </p:cNvPr>
          <p:cNvSpPr/>
          <p:nvPr/>
        </p:nvSpPr>
        <p:spPr>
          <a:xfrm>
            <a:off x="7190362" y="3104927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M16</a:t>
            </a:r>
            <a:endParaRPr lang="en-IN" sz="7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657EB35-E491-4297-95DC-C88F90294CA2}"/>
              </a:ext>
            </a:extLst>
          </p:cNvPr>
          <p:cNvSpPr/>
          <p:nvPr/>
        </p:nvSpPr>
        <p:spPr>
          <a:xfrm>
            <a:off x="6110362" y="2744927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M9</a:t>
            </a:r>
            <a:endParaRPr lang="en-IN" sz="9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A24A4A8-DEA4-78EA-6943-4C316BB82081}"/>
              </a:ext>
            </a:extLst>
          </p:cNvPr>
          <p:cNvSpPr/>
          <p:nvPr/>
        </p:nvSpPr>
        <p:spPr>
          <a:xfrm>
            <a:off x="6470362" y="2744927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M10</a:t>
            </a:r>
            <a:endParaRPr lang="en-IN" sz="7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3B6ED89-C399-7F54-5ABF-ABE4483D6B49}"/>
              </a:ext>
            </a:extLst>
          </p:cNvPr>
          <p:cNvSpPr/>
          <p:nvPr/>
        </p:nvSpPr>
        <p:spPr>
          <a:xfrm>
            <a:off x="6830362" y="2744927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M11</a:t>
            </a:r>
            <a:endParaRPr lang="en-IN" sz="7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569B695-43E2-8570-84B3-38FC4A00D19B}"/>
              </a:ext>
            </a:extLst>
          </p:cNvPr>
          <p:cNvSpPr/>
          <p:nvPr/>
        </p:nvSpPr>
        <p:spPr>
          <a:xfrm>
            <a:off x="7190362" y="2744927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M12</a:t>
            </a:r>
            <a:endParaRPr lang="en-IN" sz="7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CEA6028-AC9F-4384-6249-6D953BA79C16}"/>
              </a:ext>
            </a:extLst>
          </p:cNvPr>
          <p:cNvCxnSpPr>
            <a:cxnSpLocks/>
            <a:stCxn id="29" idx="2"/>
            <a:endCxn id="28" idx="0"/>
          </p:cNvCxnSpPr>
          <p:nvPr/>
        </p:nvCxnSpPr>
        <p:spPr>
          <a:xfrm>
            <a:off x="4079197" y="2169263"/>
            <a:ext cx="4971" cy="226459"/>
          </a:xfrm>
          <a:prstGeom prst="straightConnector1">
            <a:avLst/>
          </a:prstGeom>
          <a:ln>
            <a:solidFill>
              <a:srgbClr val="F4BB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30DAF26-7CB8-543B-1820-9802A34D3C5B}"/>
              </a:ext>
            </a:extLst>
          </p:cNvPr>
          <p:cNvCxnSpPr>
            <a:cxnSpLocks/>
            <a:stCxn id="28" idx="2"/>
            <a:endCxn id="27" idx="0"/>
          </p:cNvCxnSpPr>
          <p:nvPr/>
        </p:nvCxnSpPr>
        <p:spPr>
          <a:xfrm>
            <a:off x="4084168" y="2883574"/>
            <a:ext cx="0" cy="207545"/>
          </a:xfrm>
          <a:prstGeom prst="straightConnector1">
            <a:avLst/>
          </a:prstGeom>
          <a:ln>
            <a:solidFill>
              <a:srgbClr val="F4BB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1804F7D-7318-37AF-AEF0-8481769AF8C4}"/>
              </a:ext>
            </a:extLst>
          </p:cNvPr>
          <p:cNvCxnSpPr>
            <a:stCxn id="27" idx="2"/>
            <a:endCxn id="26" idx="0"/>
          </p:cNvCxnSpPr>
          <p:nvPr/>
        </p:nvCxnSpPr>
        <p:spPr>
          <a:xfrm>
            <a:off x="4084168" y="3419110"/>
            <a:ext cx="1" cy="349527"/>
          </a:xfrm>
          <a:prstGeom prst="straightConnector1">
            <a:avLst/>
          </a:prstGeom>
          <a:ln>
            <a:solidFill>
              <a:srgbClr val="F4BB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AED0BCD-BE0B-40D6-E0CB-670FEA486EEC}"/>
              </a:ext>
            </a:extLst>
          </p:cNvPr>
          <p:cNvCxnSpPr>
            <a:cxnSpLocks/>
            <a:stCxn id="30" idx="3"/>
            <a:endCxn id="28" idx="1"/>
          </p:cNvCxnSpPr>
          <p:nvPr/>
        </p:nvCxnSpPr>
        <p:spPr>
          <a:xfrm>
            <a:off x="2698807" y="2616524"/>
            <a:ext cx="910193" cy="23124"/>
          </a:xfrm>
          <a:prstGeom prst="straightConnector1">
            <a:avLst/>
          </a:prstGeom>
          <a:ln>
            <a:solidFill>
              <a:srgbClr val="F4BB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3AEF9C2-425A-5CE3-8D81-2AA3C22E44C0}"/>
              </a:ext>
            </a:extLst>
          </p:cNvPr>
          <p:cNvCxnSpPr>
            <a:cxnSpLocks/>
            <a:stCxn id="49" idx="2"/>
            <a:endCxn id="28" idx="3"/>
          </p:cNvCxnSpPr>
          <p:nvPr/>
        </p:nvCxnSpPr>
        <p:spPr>
          <a:xfrm flipH="1">
            <a:off x="4559336" y="2606594"/>
            <a:ext cx="1405813" cy="33054"/>
          </a:xfrm>
          <a:prstGeom prst="straightConnector1">
            <a:avLst/>
          </a:prstGeom>
          <a:ln>
            <a:solidFill>
              <a:srgbClr val="F4BB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3" name="TextBox 452">
            <a:extLst>
              <a:ext uri="{FF2B5EF4-FFF2-40B4-BE49-F238E27FC236}">
                <a16:creationId xmlns:a16="http://schemas.microsoft.com/office/drawing/2014/main" id="{9FF7C783-B947-3E88-92EA-DAF9BF2FCAF5}"/>
              </a:ext>
            </a:extLst>
          </p:cNvPr>
          <p:cNvSpPr txBox="1"/>
          <p:nvPr/>
        </p:nvSpPr>
        <p:spPr>
          <a:xfrm>
            <a:off x="99064" y="4792025"/>
            <a:ext cx="5661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4BB00"/>
                </a:solidFill>
                <a:latin typeface="Aptos" panose="020B0004020202020204" pitchFamily="34" charset="0"/>
              </a:rPr>
              <a:t>Artificial Intelligence &amp; Data Science – ADD 416 (Project Phase 2)</a:t>
            </a:r>
            <a:endParaRPr lang="en-IN" sz="1200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743FBE31-563F-24EA-4D4D-47DC4FC3865D}"/>
              </a:ext>
            </a:extLst>
          </p:cNvPr>
          <p:cNvSpPr txBox="1"/>
          <p:nvPr/>
        </p:nvSpPr>
        <p:spPr>
          <a:xfrm>
            <a:off x="7117084" y="4752438"/>
            <a:ext cx="1501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05/02/2026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7F3623C0-A84A-1347-1DDD-A1AEADFCB474}"/>
              </a:ext>
            </a:extLst>
          </p:cNvPr>
          <p:cNvSpPr txBox="1"/>
          <p:nvPr/>
        </p:nvSpPr>
        <p:spPr>
          <a:xfrm>
            <a:off x="8686804" y="4753777"/>
            <a:ext cx="426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10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8314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50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animClr clrSpc="rgb" dir="cw">
                                      <p:cBhvr>
                                        <p:cTn id="12" dur="250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250" autoRev="1" fill="remove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animClr clrSpc="rgb" dir="cw">
                                      <p:cBhvr>
                                        <p:cTn id="17" dur="250" autoRev="1" fill="remove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18" dur="250" autoRev="1" fill="remove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250" autoRev="1" fill="remove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250" autoRev="1" fill="remov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animClr clrSpc="rgb" dir="cw">
                                      <p:cBhvr>
                                        <p:cTn id="22" dur="250" autoRev="1" fill="remove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23" dur="250" autoRev="1" fill="remove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250" autoRev="1" fill="remove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25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animClr clrSpc="rgb" dir="cw">
                                      <p:cBhvr>
                                        <p:cTn id="27" dur="25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28" dur="25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25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250" autoRev="1" fill="remove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animClr clrSpc="rgb" dir="cw">
                                      <p:cBhvr>
                                        <p:cTn id="32" dur="250" autoRev="1" fill="remov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33" dur="250" autoRev="1" fill="remov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250" autoRev="1" fill="remov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250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animClr clrSpc="rgb" dir="cw">
                                      <p:cBhvr>
                                        <p:cTn id="37" dur="250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38" dur="250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250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animClr clrSpc="rgb" dir="cw">
                                      <p:cBhvr>
                                        <p:cTn id="42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43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animClr clrSpc="rgb" dir="cw">
                                      <p:cBhvr>
                                        <p:cTn id="47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48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animClr clrSpc="rgb" dir="cw">
                                      <p:cBhvr>
                                        <p:cTn id="52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53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250" autoRev="1" fill="remove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animClr clrSpc="rgb" dir="cw">
                                      <p:cBhvr>
                                        <p:cTn id="57" dur="250" autoRev="1" fill="remove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58" dur="250" autoRev="1" fill="remove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250" autoRev="1" fill="remove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250" autoRev="1" fill="remove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animClr clrSpc="rgb" dir="cw">
                                      <p:cBhvr>
                                        <p:cTn id="62" dur="250" autoRev="1" fill="remove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63" dur="250" autoRev="1" fill="remove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250" autoRev="1" fill="remove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250" autoRev="1" fill="remove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animClr clrSpc="rgb" dir="cw">
                                      <p:cBhvr>
                                        <p:cTn id="67" dur="250" autoRev="1" fill="remov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68" dur="250" autoRev="1" fill="remov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" dur="250" autoRev="1" fill="remov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animClr clrSpc="rgb" dir="cw">
                                      <p:cBhvr>
                                        <p:cTn id="72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73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2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animClr clrSpc="rgb" dir="cw">
                                      <p:cBhvr>
                                        <p:cTn id="77" dur="2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78" dur="2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2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animClr clrSpc="rgb" dir="cw">
                                      <p:cBhvr>
                                        <p:cTn id="82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83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A7F1BF22-7A73-78EE-C8BD-4DA7C2D42D47}"/>
              </a:ext>
            </a:extLst>
          </p:cNvPr>
          <p:cNvSpPr/>
          <p:nvPr/>
        </p:nvSpPr>
        <p:spPr>
          <a:xfrm>
            <a:off x="4748034" y="2043952"/>
            <a:ext cx="997319" cy="1144224"/>
          </a:xfrm>
          <a:prstGeom prst="round2Same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6"/>
                </a:solidFill>
              </a:rPr>
              <a:t>Token </a:t>
            </a:r>
            <a:r>
              <a:rPr lang="en-US" sz="1000" dirty="0" err="1">
                <a:solidFill>
                  <a:schemeClr val="accent6"/>
                </a:solidFill>
              </a:rPr>
              <a:t>Gater</a:t>
            </a:r>
            <a:endParaRPr lang="en-US" sz="1000" dirty="0">
              <a:solidFill>
                <a:schemeClr val="accent6"/>
              </a:solidFill>
            </a:endParaRPr>
          </a:p>
          <a:p>
            <a:pPr algn="ctr"/>
            <a:endParaRPr lang="en-US" sz="1000" dirty="0">
              <a:solidFill>
                <a:schemeClr val="accent6"/>
              </a:solidFill>
            </a:endParaRPr>
          </a:p>
          <a:p>
            <a:pPr algn="ctr"/>
            <a:endParaRPr lang="en-US" sz="1000" dirty="0">
              <a:solidFill>
                <a:schemeClr val="accent6"/>
              </a:solidFill>
            </a:endParaRPr>
          </a:p>
          <a:p>
            <a:pPr algn="ctr"/>
            <a:endParaRPr lang="en-US" sz="1000" dirty="0">
              <a:solidFill>
                <a:schemeClr val="accent6"/>
              </a:solidFill>
            </a:endParaRPr>
          </a:p>
          <a:p>
            <a:pPr algn="ctr"/>
            <a:endParaRPr lang="en-US" sz="1000" dirty="0">
              <a:solidFill>
                <a:schemeClr val="accent6"/>
              </a:solidFill>
            </a:endParaRPr>
          </a:p>
          <a:p>
            <a:pPr algn="ctr"/>
            <a:endParaRPr lang="en-US" sz="1000" dirty="0">
              <a:solidFill>
                <a:schemeClr val="accent6"/>
              </a:solidFill>
            </a:endParaRPr>
          </a:p>
          <a:p>
            <a:pPr algn="ctr"/>
            <a:endParaRPr lang="en-US" sz="1000" dirty="0">
              <a:solidFill>
                <a:schemeClr val="accent6"/>
              </a:solidFill>
            </a:endParaRPr>
          </a:p>
        </p:txBody>
      </p:sp>
      <p:sp>
        <p:nvSpPr>
          <p:cNvPr id="49" name="Rectangle: Top Corners Rounded 48">
            <a:extLst>
              <a:ext uri="{FF2B5EF4-FFF2-40B4-BE49-F238E27FC236}">
                <a16:creationId xmlns:a16="http://schemas.microsoft.com/office/drawing/2014/main" id="{8779203E-FEB6-1573-B295-17BCCF2780DE}"/>
              </a:ext>
            </a:extLst>
          </p:cNvPr>
          <p:cNvSpPr/>
          <p:nvPr/>
        </p:nvSpPr>
        <p:spPr>
          <a:xfrm>
            <a:off x="6644844" y="1572924"/>
            <a:ext cx="1734377" cy="2067339"/>
          </a:xfrm>
          <a:prstGeom prst="round2Same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Chat History</a:t>
            </a:r>
          </a:p>
          <a:p>
            <a:pPr algn="ctr"/>
            <a:endParaRPr lang="en-US" dirty="0">
              <a:solidFill>
                <a:schemeClr val="accent6"/>
              </a:solidFill>
            </a:endParaRPr>
          </a:p>
          <a:p>
            <a:pPr algn="ctr"/>
            <a:endParaRPr lang="en-US" dirty="0">
              <a:solidFill>
                <a:schemeClr val="accent6"/>
              </a:solidFill>
            </a:endParaRPr>
          </a:p>
          <a:p>
            <a:pPr algn="ctr"/>
            <a:endParaRPr lang="en-US" dirty="0">
              <a:solidFill>
                <a:schemeClr val="accent6"/>
              </a:solidFill>
            </a:endParaRPr>
          </a:p>
          <a:p>
            <a:pPr algn="ctr"/>
            <a:endParaRPr lang="en-US" dirty="0">
              <a:solidFill>
                <a:schemeClr val="accent6"/>
              </a:solidFill>
            </a:endParaRPr>
          </a:p>
          <a:p>
            <a:pPr algn="ctr"/>
            <a:endParaRPr lang="en-US" dirty="0">
              <a:solidFill>
                <a:schemeClr val="accent6"/>
              </a:solidFill>
            </a:endParaRPr>
          </a:p>
          <a:p>
            <a:pPr algn="ctr"/>
            <a:endParaRPr lang="en-US" dirty="0">
              <a:solidFill>
                <a:schemeClr val="accent6"/>
              </a:solidFill>
            </a:endParaRPr>
          </a:p>
          <a:p>
            <a:pPr algn="ctr"/>
            <a:endParaRPr lang="en-US" dirty="0">
              <a:solidFill>
                <a:schemeClr val="accent6"/>
              </a:solidFill>
            </a:endParaRPr>
          </a:p>
          <a:p>
            <a:pPr algn="ctr"/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509" name="Google Shape;509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F4BB00"/>
                </a:solidFill>
              </a:rPr>
              <a:t>PROPOSED METHODOLOGY/SOLUTION</a:t>
            </a:r>
            <a:endParaRPr sz="2800" dirty="0">
              <a:solidFill>
                <a:srgbClr val="F4BB00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9971D5C-7BC0-6738-DC35-36114CD7AEEB}"/>
              </a:ext>
            </a:extLst>
          </p:cNvPr>
          <p:cNvSpPr/>
          <p:nvPr/>
        </p:nvSpPr>
        <p:spPr>
          <a:xfrm>
            <a:off x="2866715" y="3768637"/>
            <a:ext cx="899491" cy="327991"/>
          </a:xfrm>
          <a:prstGeom prst="roundRect">
            <a:avLst/>
          </a:prstGeom>
          <a:noFill/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Answer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0FA375D-6542-A04B-B12B-2B557DDC2224}"/>
              </a:ext>
            </a:extLst>
          </p:cNvPr>
          <p:cNvSpPr/>
          <p:nvPr/>
        </p:nvSpPr>
        <p:spPr>
          <a:xfrm>
            <a:off x="2866714" y="3091119"/>
            <a:ext cx="899491" cy="327991"/>
          </a:xfrm>
          <a:prstGeom prst="roundRect">
            <a:avLst/>
          </a:prstGeom>
          <a:noFill/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LLM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7DD39C-287D-4D5A-6BDC-A0643580C271}"/>
              </a:ext>
            </a:extLst>
          </p:cNvPr>
          <p:cNvSpPr/>
          <p:nvPr/>
        </p:nvSpPr>
        <p:spPr>
          <a:xfrm>
            <a:off x="2686484" y="2415257"/>
            <a:ext cx="1239490" cy="419430"/>
          </a:xfrm>
          <a:prstGeom prst="roundRect">
            <a:avLst/>
          </a:prstGeom>
          <a:noFill/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Context window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32DC78C-773A-F830-0C15-581D407A48A0}"/>
              </a:ext>
            </a:extLst>
          </p:cNvPr>
          <p:cNvSpPr/>
          <p:nvPr/>
        </p:nvSpPr>
        <p:spPr>
          <a:xfrm>
            <a:off x="2861743" y="1616409"/>
            <a:ext cx="899491" cy="552854"/>
          </a:xfrm>
          <a:prstGeom prst="roundRect">
            <a:avLst/>
          </a:prstGeom>
          <a:noFill/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User Input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46232DA-6E63-5758-AB1E-ECDAD91056B6}"/>
              </a:ext>
            </a:extLst>
          </p:cNvPr>
          <p:cNvSpPr/>
          <p:nvPr/>
        </p:nvSpPr>
        <p:spPr>
          <a:xfrm>
            <a:off x="750001" y="2372598"/>
            <a:ext cx="1181098" cy="487852"/>
          </a:xfrm>
          <a:prstGeom prst="roundRect">
            <a:avLst/>
          </a:prstGeom>
          <a:noFill/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External</a:t>
            </a:r>
          </a:p>
          <a:p>
            <a:pPr algn="ctr"/>
            <a:r>
              <a:rPr lang="en-US" dirty="0">
                <a:solidFill>
                  <a:schemeClr val="accent6"/>
                </a:solidFill>
              </a:rPr>
              <a:t>Documents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106804-74DA-B671-2FCB-20830E1591CE}"/>
              </a:ext>
            </a:extLst>
          </p:cNvPr>
          <p:cNvSpPr/>
          <p:nvPr/>
        </p:nvSpPr>
        <p:spPr>
          <a:xfrm>
            <a:off x="6790057" y="2384927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M5</a:t>
            </a:r>
            <a:endParaRPr lang="en-IN" sz="9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A5588B0-6774-0077-5AD8-E5FBD5CDF2A3}"/>
              </a:ext>
            </a:extLst>
          </p:cNvPr>
          <p:cNvSpPr/>
          <p:nvPr/>
        </p:nvSpPr>
        <p:spPr>
          <a:xfrm>
            <a:off x="7150057" y="2384927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M6</a:t>
            </a:r>
            <a:endParaRPr lang="en-IN" sz="9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025E711-B410-6211-98E0-08DB4A16902D}"/>
              </a:ext>
            </a:extLst>
          </p:cNvPr>
          <p:cNvSpPr/>
          <p:nvPr/>
        </p:nvSpPr>
        <p:spPr>
          <a:xfrm>
            <a:off x="7510057" y="2384927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M7</a:t>
            </a:r>
            <a:endParaRPr lang="en-IN" sz="9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CE20CB9-4A14-675E-9C02-6E0BED81DFCF}"/>
              </a:ext>
            </a:extLst>
          </p:cNvPr>
          <p:cNvSpPr/>
          <p:nvPr/>
        </p:nvSpPr>
        <p:spPr>
          <a:xfrm>
            <a:off x="7870057" y="2384927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M8</a:t>
            </a:r>
            <a:endParaRPr lang="en-IN" sz="9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477CF1-DFB4-AEBE-C28F-B0A231D8ADF1}"/>
              </a:ext>
            </a:extLst>
          </p:cNvPr>
          <p:cNvSpPr/>
          <p:nvPr/>
        </p:nvSpPr>
        <p:spPr>
          <a:xfrm>
            <a:off x="6790057" y="2024927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M1</a:t>
            </a:r>
            <a:endParaRPr lang="en-IN" sz="9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E4675DF-82DE-A20E-D11B-9D0ECED86245}"/>
              </a:ext>
            </a:extLst>
          </p:cNvPr>
          <p:cNvSpPr/>
          <p:nvPr/>
        </p:nvSpPr>
        <p:spPr>
          <a:xfrm>
            <a:off x="7150057" y="2024927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M2</a:t>
            </a:r>
            <a:endParaRPr lang="en-IN" sz="9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F64EB0D-9D71-CC46-23BE-6E1027C53C6D}"/>
              </a:ext>
            </a:extLst>
          </p:cNvPr>
          <p:cNvSpPr/>
          <p:nvPr/>
        </p:nvSpPr>
        <p:spPr>
          <a:xfrm>
            <a:off x="7510057" y="2024927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M3</a:t>
            </a:r>
            <a:endParaRPr lang="en-IN" sz="9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DE4A9A5-9105-CCA1-0F30-4434630BB484}"/>
              </a:ext>
            </a:extLst>
          </p:cNvPr>
          <p:cNvSpPr/>
          <p:nvPr/>
        </p:nvSpPr>
        <p:spPr>
          <a:xfrm>
            <a:off x="7870057" y="2024927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M4</a:t>
            </a:r>
            <a:endParaRPr lang="en-IN" sz="9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EAA13E3-3D95-49A7-EE7B-92CB5CA5BF4E}"/>
              </a:ext>
            </a:extLst>
          </p:cNvPr>
          <p:cNvSpPr/>
          <p:nvPr/>
        </p:nvSpPr>
        <p:spPr>
          <a:xfrm>
            <a:off x="6790057" y="3104927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M13</a:t>
            </a:r>
            <a:endParaRPr lang="en-IN" sz="7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500BE28-C638-DCF2-DCB6-28E28EC4867F}"/>
              </a:ext>
            </a:extLst>
          </p:cNvPr>
          <p:cNvSpPr/>
          <p:nvPr/>
        </p:nvSpPr>
        <p:spPr>
          <a:xfrm>
            <a:off x="7150057" y="3104927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M14</a:t>
            </a:r>
            <a:endParaRPr lang="en-IN" sz="7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EABC26F-82A2-005B-3D04-F36CA6D34B26}"/>
              </a:ext>
            </a:extLst>
          </p:cNvPr>
          <p:cNvSpPr/>
          <p:nvPr/>
        </p:nvSpPr>
        <p:spPr>
          <a:xfrm>
            <a:off x="7510057" y="3104927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M15</a:t>
            </a:r>
            <a:endParaRPr lang="en-IN" sz="7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2A9652A-EDF0-85D5-EF00-B33A23ABCB5F}"/>
              </a:ext>
            </a:extLst>
          </p:cNvPr>
          <p:cNvSpPr/>
          <p:nvPr/>
        </p:nvSpPr>
        <p:spPr>
          <a:xfrm>
            <a:off x="7870057" y="3104927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M16</a:t>
            </a:r>
            <a:endParaRPr lang="en-IN" sz="7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657EB35-E491-4297-95DC-C88F90294CA2}"/>
              </a:ext>
            </a:extLst>
          </p:cNvPr>
          <p:cNvSpPr/>
          <p:nvPr/>
        </p:nvSpPr>
        <p:spPr>
          <a:xfrm>
            <a:off x="6790057" y="2744927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M9</a:t>
            </a:r>
            <a:endParaRPr lang="en-IN" sz="9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A24A4A8-DEA4-78EA-6943-4C316BB82081}"/>
              </a:ext>
            </a:extLst>
          </p:cNvPr>
          <p:cNvSpPr/>
          <p:nvPr/>
        </p:nvSpPr>
        <p:spPr>
          <a:xfrm>
            <a:off x="7150057" y="2744927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M10</a:t>
            </a:r>
            <a:endParaRPr lang="en-IN" sz="7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3B6ED89-C399-7F54-5ABF-ABE4483D6B49}"/>
              </a:ext>
            </a:extLst>
          </p:cNvPr>
          <p:cNvSpPr/>
          <p:nvPr/>
        </p:nvSpPr>
        <p:spPr>
          <a:xfrm>
            <a:off x="7510057" y="2744927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M11</a:t>
            </a:r>
            <a:endParaRPr lang="en-IN" sz="7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569B695-43E2-8570-84B3-38FC4A00D19B}"/>
              </a:ext>
            </a:extLst>
          </p:cNvPr>
          <p:cNvSpPr/>
          <p:nvPr/>
        </p:nvSpPr>
        <p:spPr>
          <a:xfrm>
            <a:off x="7870057" y="2744927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M12</a:t>
            </a:r>
            <a:endParaRPr lang="en-IN" sz="7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CEA6028-AC9F-4384-6249-6D953BA79C16}"/>
              </a:ext>
            </a:extLst>
          </p:cNvPr>
          <p:cNvCxnSpPr>
            <a:cxnSpLocks/>
            <a:stCxn id="29" idx="2"/>
            <a:endCxn id="28" idx="0"/>
          </p:cNvCxnSpPr>
          <p:nvPr/>
        </p:nvCxnSpPr>
        <p:spPr>
          <a:xfrm flipH="1">
            <a:off x="3306229" y="2169263"/>
            <a:ext cx="5260" cy="245994"/>
          </a:xfrm>
          <a:prstGeom prst="straightConnector1">
            <a:avLst/>
          </a:prstGeom>
          <a:ln>
            <a:solidFill>
              <a:srgbClr val="F4BB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30DAF26-7CB8-543B-1820-9802A34D3C5B}"/>
              </a:ext>
            </a:extLst>
          </p:cNvPr>
          <p:cNvCxnSpPr>
            <a:cxnSpLocks/>
            <a:stCxn id="28" idx="2"/>
            <a:endCxn id="27" idx="0"/>
          </p:cNvCxnSpPr>
          <p:nvPr/>
        </p:nvCxnSpPr>
        <p:spPr>
          <a:xfrm>
            <a:off x="3306229" y="2834687"/>
            <a:ext cx="10231" cy="256432"/>
          </a:xfrm>
          <a:prstGeom prst="straightConnector1">
            <a:avLst/>
          </a:prstGeom>
          <a:ln>
            <a:solidFill>
              <a:srgbClr val="F4BB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1804F7D-7318-37AF-AEF0-8481769AF8C4}"/>
              </a:ext>
            </a:extLst>
          </p:cNvPr>
          <p:cNvCxnSpPr>
            <a:stCxn id="27" idx="2"/>
            <a:endCxn id="26" idx="0"/>
          </p:cNvCxnSpPr>
          <p:nvPr/>
        </p:nvCxnSpPr>
        <p:spPr>
          <a:xfrm>
            <a:off x="3316460" y="3419110"/>
            <a:ext cx="1" cy="349527"/>
          </a:xfrm>
          <a:prstGeom prst="straightConnector1">
            <a:avLst/>
          </a:prstGeom>
          <a:ln>
            <a:solidFill>
              <a:srgbClr val="F4BB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AED0BCD-BE0B-40D6-E0CB-670FEA486EEC}"/>
              </a:ext>
            </a:extLst>
          </p:cNvPr>
          <p:cNvCxnSpPr>
            <a:cxnSpLocks/>
            <a:stCxn id="30" idx="3"/>
            <a:endCxn id="28" idx="1"/>
          </p:cNvCxnSpPr>
          <p:nvPr/>
        </p:nvCxnSpPr>
        <p:spPr>
          <a:xfrm>
            <a:off x="1931099" y="2616524"/>
            <a:ext cx="755385" cy="8448"/>
          </a:xfrm>
          <a:prstGeom prst="straightConnector1">
            <a:avLst/>
          </a:prstGeom>
          <a:ln>
            <a:solidFill>
              <a:srgbClr val="F4BB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0AEC6B72-C6FA-4D85-0A0B-27B13D82BBB6}"/>
              </a:ext>
            </a:extLst>
          </p:cNvPr>
          <p:cNvSpPr/>
          <p:nvPr/>
        </p:nvSpPr>
        <p:spPr>
          <a:xfrm>
            <a:off x="4899482" y="2704843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M9</a:t>
            </a:r>
            <a:endParaRPr lang="en-IN" sz="9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29289B-E848-4C30-A78B-1AF982FDA1E0}"/>
              </a:ext>
            </a:extLst>
          </p:cNvPr>
          <p:cNvSpPr/>
          <p:nvPr/>
        </p:nvSpPr>
        <p:spPr>
          <a:xfrm>
            <a:off x="5259482" y="2704843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M16</a:t>
            </a:r>
            <a:endParaRPr lang="en-IN" sz="7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C08CCF-3B98-CF32-E549-AC42464906C2}"/>
              </a:ext>
            </a:extLst>
          </p:cNvPr>
          <p:cNvSpPr/>
          <p:nvPr/>
        </p:nvSpPr>
        <p:spPr>
          <a:xfrm>
            <a:off x="4899482" y="2344843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M1</a:t>
            </a:r>
            <a:endParaRPr lang="en-IN" sz="9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88E1BB-75D0-5278-ED88-88DABED60233}"/>
              </a:ext>
            </a:extLst>
          </p:cNvPr>
          <p:cNvSpPr/>
          <p:nvPr/>
        </p:nvSpPr>
        <p:spPr>
          <a:xfrm>
            <a:off x="5259482" y="2344843"/>
            <a:ext cx="360000" cy="360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6"/>
                </a:solidFill>
                <a:latin typeface="Akatab" panose="020B0604020202020204" charset="0"/>
                <a:ea typeface="Akatab" panose="020B0604020202020204" charset="0"/>
                <a:cs typeface="Akatab" panose="020B0604020202020204" charset="0"/>
              </a:rPr>
              <a:t>M7</a:t>
            </a:r>
            <a:endParaRPr lang="en-IN" sz="900" dirty="0">
              <a:solidFill>
                <a:schemeClr val="accent6"/>
              </a:solidFill>
              <a:latin typeface="Akatab" panose="020B0604020202020204" charset="0"/>
              <a:ea typeface="Akatab" panose="020B0604020202020204" charset="0"/>
              <a:cs typeface="Akatab" panose="020B060402020202020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2E56ACA-8967-8DB6-E44F-374B8EA879B4}"/>
              </a:ext>
            </a:extLst>
          </p:cNvPr>
          <p:cNvCxnSpPr>
            <a:cxnSpLocks/>
            <a:stCxn id="7" idx="2"/>
            <a:endCxn id="28" idx="3"/>
          </p:cNvCxnSpPr>
          <p:nvPr/>
        </p:nvCxnSpPr>
        <p:spPr>
          <a:xfrm flipH="1">
            <a:off x="3925974" y="2616064"/>
            <a:ext cx="822060" cy="8908"/>
          </a:xfrm>
          <a:prstGeom prst="straightConnector1">
            <a:avLst/>
          </a:prstGeom>
          <a:ln>
            <a:solidFill>
              <a:srgbClr val="F4BB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0841CB9-D92E-C825-9ADB-3002EF8DF451}"/>
              </a:ext>
            </a:extLst>
          </p:cNvPr>
          <p:cNvCxnSpPr/>
          <p:nvPr/>
        </p:nvCxnSpPr>
        <p:spPr>
          <a:xfrm>
            <a:off x="5745353" y="2372598"/>
            <a:ext cx="899491" cy="0"/>
          </a:xfrm>
          <a:prstGeom prst="straightConnector1">
            <a:avLst/>
          </a:prstGeom>
          <a:ln>
            <a:solidFill>
              <a:srgbClr val="F4BB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53AB66F-4EAA-D7D8-16EF-CC6996D13DE5}"/>
              </a:ext>
            </a:extLst>
          </p:cNvPr>
          <p:cNvCxnSpPr/>
          <p:nvPr/>
        </p:nvCxnSpPr>
        <p:spPr>
          <a:xfrm flipH="1">
            <a:off x="5745353" y="2924124"/>
            <a:ext cx="899491" cy="0"/>
          </a:xfrm>
          <a:prstGeom prst="straightConnector1">
            <a:avLst/>
          </a:prstGeom>
          <a:ln>
            <a:solidFill>
              <a:srgbClr val="F4BB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D584CC23-3948-175E-5D4B-ED766F082C63}"/>
              </a:ext>
            </a:extLst>
          </p:cNvPr>
          <p:cNvCxnSpPr>
            <a:stCxn id="29" idx="0"/>
            <a:endCxn id="7" idx="3"/>
          </p:cNvCxnSpPr>
          <p:nvPr/>
        </p:nvCxnSpPr>
        <p:spPr>
          <a:xfrm rot="16200000" flipH="1">
            <a:off x="4065319" y="862578"/>
            <a:ext cx="427543" cy="1935205"/>
          </a:xfrm>
          <a:prstGeom prst="bentConnector3">
            <a:avLst>
              <a:gd name="adj1" fmla="val -53468"/>
            </a:avLst>
          </a:prstGeom>
          <a:ln>
            <a:solidFill>
              <a:srgbClr val="F4BB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CE8ABB7-4A1C-ECE2-EC5D-CD6FABA8E664}"/>
              </a:ext>
            </a:extLst>
          </p:cNvPr>
          <p:cNvSpPr txBox="1"/>
          <p:nvPr/>
        </p:nvSpPr>
        <p:spPr>
          <a:xfrm>
            <a:off x="99064" y="4792025"/>
            <a:ext cx="5661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4BB00"/>
                </a:solidFill>
                <a:latin typeface="Aptos" panose="020B0004020202020204" pitchFamily="34" charset="0"/>
              </a:rPr>
              <a:t>Artificial Intelligence &amp; Data Science – ADD 416 (Project Phase 2)</a:t>
            </a:r>
            <a:endParaRPr lang="en-IN" sz="1200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FDEE31-AB4A-1608-1F08-A23F0344D421}"/>
              </a:ext>
            </a:extLst>
          </p:cNvPr>
          <p:cNvSpPr txBox="1"/>
          <p:nvPr/>
        </p:nvSpPr>
        <p:spPr>
          <a:xfrm>
            <a:off x="7117084" y="4752438"/>
            <a:ext cx="1501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05/02/2026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AC331A-AD4D-551E-7999-5A6BAD054D32}"/>
              </a:ext>
            </a:extLst>
          </p:cNvPr>
          <p:cNvSpPr txBox="1"/>
          <p:nvPr/>
        </p:nvSpPr>
        <p:spPr>
          <a:xfrm>
            <a:off x="8686804" y="4753777"/>
            <a:ext cx="426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11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434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50" autoRev="1" fill="remov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animClr clrSpc="rgb" dir="cw">
                                      <p:cBhvr>
                                        <p:cTn id="19" dur="250" autoRev="1" fill="remove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20" dur="250" autoRev="1" fill="remove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250" autoRev="1" fill="remove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250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0" dur="250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1" dur="250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250" autoRev="1" fill="remov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250" autoRev="1" fill="remove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5" dur="250" autoRev="1" fill="remove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50" autoRev="1" fill="remove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50" autoRev="1" fill="remove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250" autoRev="1" fill="remov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0" dur="250" autoRev="1" fill="remove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1" dur="250" autoRev="1" fill="remove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250" autoRev="1" fill="remove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25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5" dur="25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6" dur="25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25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250" autoRev="1" fill="remove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50" dur="250" autoRev="1" fill="remov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1" dur="250" autoRev="1" fill="remov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250" autoRev="1" fill="remov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" dur="250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animClr clrSpc="rgb" dir="cw">
                                      <p:cBhvr>
                                        <p:cTn id="56" dur="250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57" dur="250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250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67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8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500"/>
                            </p:stCondLst>
                            <p:childTnLst>
                              <p:par>
                                <p:cTn id="71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animClr clrSpc="rgb" dir="cw">
                                      <p:cBhvr>
                                        <p:cTn id="73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74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250" autoRev="1" fill="remove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000"/>
                            </p:stCondLst>
                            <p:childTnLst>
                              <p:par>
                                <p:cTn id="82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84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5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" dur="250" autoRev="1" fill="remove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89" dur="250" autoRev="1" fill="remove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0" dur="250" autoRev="1" fill="remove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" dur="250" autoRev="1" fill="remove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" dur="250" autoRev="1" fill="remove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94" dur="250" autoRev="1" fill="remove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5" dur="250" autoRev="1" fill="remove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" dur="250" autoRev="1" fill="remove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" dur="250" autoRev="1" fill="remove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99" dur="250" autoRev="1" fill="remov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0" dur="250" autoRev="1" fill="remov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250" autoRev="1" fill="remove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04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5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" dur="250" autoRev="1" fill="remove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" dur="2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09" dur="2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0" dur="2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250" autoRev="1" fill="remove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13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animClr clrSpc="rgb" dir="cw">
                                      <p:cBhvr>
                                        <p:cTn id="115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116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" dur="250" autoRev="1" fill="remov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0"/>
                            </p:stCondLst>
                            <p:childTnLst>
                              <p:par>
                                <p:cTn id="1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1"/>
          <p:cNvSpPr txBox="1">
            <a:spLocks noGrp="1"/>
          </p:cNvSpPr>
          <p:nvPr>
            <p:ph type="subTitle" idx="7"/>
          </p:nvPr>
        </p:nvSpPr>
        <p:spPr>
          <a:xfrm>
            <a:off x="1434138" y="1806700"/>
            <a:ext cx="19008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F4BB00"/>
                </a:solidFill>
              </a:rPr>
              <a:t>EMBEDDING</a:t>
            </a:r>
            <a:endParaRPr sz="2000" dirty="0">
              <a:solidFill>
                <a:srgbClr val="F4BB00"/>
              </a:solidFill>
            </a:endParaRPr>
          </a:p>
        </p:txBody>
      </p:sp>
      <p:sp>
        <p:nvSpPr>
          <p:cNvPr id="505" name="Google Shape;505;p51"/>
          <p:cNvSpPr txBox="1">
            <a:spLocks noGrp="1"/>
          </p:cNvSpPr>
          <p:nvPr>
            <p:ph type="subTitle" idx="4"/>
          </p:nvPr>
        </p:nvSpPr>
        <p:spPr>
          <a:xfrm>
            <a:off x="1438125" y="3560575"/>
            <a:ext cx="190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err="1">
                <a:solidFill>
                  <a:srgbClr val="F4BB00"/>
                </a:solidFill>
              </a:rPr>
              <a:t>Streamlit</a:t>
            </a:r>
            <a:r>
              <a:rPr lang="en-IN" dirty="0">
                <a:solidFill>
                  <a:srgbClr val="F4BB00"/>
                </a:solidFill>
              </a:rPr>
              <a:t>, </a:t>
            </a:r>
            <a:r>
              <a:rPr lang="en-IN" dirty="0" err="1">
                <a:solidFill>
                  <a:srgbClr val="F4BB00"/>
                </a:solidFill>
              </a:rPr>
              <a:t>WandB</a:t>
            </a:r>
            <a:endParaRPr lang="en-IN" dirty="0">
              <a:solidFill>
                <a:srgbClr val="F4BB00"/>
              </a:solidFill>
            </a:endParaRPr>
          </a:p>
        </p:txBody>
      </p:sp>
      <p:sp>
        <p:nvSpPr>
          <p:cNvPr id="506" name="Google Shape;506;p51"/>
          <p:cNvSpPr txBox="1">
            <a:spLocks noGrp="1"/>
          </p:cNvSpPr>
          <p:nvPr>
            <p:ph type="subTitle" idx="5"/>
          </p:nvPr>
        </p:nvSpPr>
        <p:spPr>
          <a:xfrm>
            <a:off x="3621606" y="3560575"/>
            <a:ext cx="190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F4BB00"/>
                </a:solidFill>
              </a:rPr>
              <a:t>scikit-learn, </a:t>
            </a:r>
            <a:r>
              <a:rPr lang="en-IN" dirty="0" err="1">
                <a:solidFill>
                  <a:srgbClr val="F4BB00"/>
                </a:solidFill>
              </a:rPr>
              <a:t>PyTorch</a:t>
            </a:r>
            <a:endParaRPr lang="en-IN" dirty="0">
              <a:solidFill>
                <a:srgbClr val="F4BB00"/>
              </a:solidFill>
            </a:endParaRPr>
          </a:p>
        </p:txBody>
      </p:sp>
      <p:sp>
        <p:nvSpPr>
          <p:cNvPr id="507" name="Google Shape;507;p51"/>
          <p:cNvSpPr txBox="1">
            <a:spLocks noGrp="1"/>
          </p:cNvSpPr>
          <p:nvPr>
            <p:ph type="subTitle" idx="1"/>
          </p:nvPr>
        </p:nvSpPr>
        <p:spPr>
          <a:xfrm>
            <a:off x="1438125" y="2291499"/>
            <a:ext cx="190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F4BB00"/>
                </a:solidFill>
              </a:rPr>
              <a:t> OpenAI, Sentence Transformers</a:t>
            </a:r>
          </a:p>
        </p:txBody>
      </p:sp>
      <p:sp>
        <p:nvSpPr>
          <p:cNvPr id="508" name="Google Shape;508;p51"/>
          <p:cNvSpPr txBox="1">
            <a:spLocks noGrp="1"/>
          </p:cNvSpPr>
          <p:nvPr>
            <p:ph type="subTitle" idx="13"/>
          </p:nvPr>
        </p:nvSpPr>
        <p:spPr>
          <a:xfrm>
            <a:off x="1434138" y="3075775"/>
            <a:ext cx="19008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F4BB00"/>
                </a:solidFill>
              </a:rPr>
              <a:t>UI &amp; METRICS</a:t>
            </a:r>
            <a:endParaRPr sz="2000" dirty="0">
              <a:solidFill>
                <a:srgbClr val="F4BB00"/>
              </a:solidFill>
            </a:endParaRPr>
          </a:p>
        </p:txBody>
      </p:sp>
      <p:sp>
        <p:nvSpPr>
          <p:cNvPr id="509" name="Google Shape;509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4BB00"/>
                </a:solidFill>
              </a:rPr>
              <a:t>TOOLS AND TECHNOLOGIES</a:t>
            </a:r>
            <a:endParaRPr dirty="0">
              <a:solidFill>
                <a:srgbClr val="F4BB00"/>
              </a:solidFill>
            </a:endParaRPr>
          </a:p>
        </p:txBody>
      </p:sp>
      <p:sp>
        <p:nvSpPr>
          <p:cNvPr id="510" name="Google Shape;510;p51"/>
          <p:cNvSpPr txBox="1">
            <a:spLocks noGrp="1"/>
          </p:cNvSpPr>
          <p:nvPr>
            <p:ph type="subTitle" idx="8"/>
          </p:nvPr>
        </p:nvSpPr>
        <p:spPr>
          <a:xfrm>
            <a:off x="3621606" y="1806700"/>
            <a:ext cx="19008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4BB00"/>
                </a:solidFill>
              </a:rPr>
              <a:t>LLM APIs</a:t>
            </a:r>
            <a:endParaRPr dirty="0">
              <a:solidFill>
                <a:srgbClr val="F4BB00"/>
              </a:solidFill>
            </a:endParaRPr>
          </a:p>
        </p:txBody>
      </p:sp>
      <p:sp>
        <p:nvSpPr>
          <p:cNvPr id="511" name="Google Shape;511;p51"/>
          <p:cNvSpPr txBox="1">
            <a:spLocks noGrp="1"/>
          </p:cNvSpPr>
          <p:nvPr>
            <p:ph type="subTitle" idx="9"/>
          </p:nvPr>
        </p:nvSpPr>
        <p:spPr>
          <a:xfrm>
            <a:off x="5809073" y="1806700"/>
            <a:ext cx="19008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4BB00"/>
                </a:solidFill>
              </a:rPr>
              <a:t>BACKEND</a:t>
            </a:r>
            <a:endParaRPr dirty="0">
              <a:solidFill>
                <a:srgbClr val="F4BB00"/>
              </a:solidFill>
            </a:endParaRPr>
          </a:p>
        </p:txBody>
      </p:sp>
      <p:sp>
        <p:nvSpPr>
          <p:cNvPr id="512" name="Google Shape;512;p51"/>
          <p:cNvSpPr txBox="1">
            <a:spLocks noGrp="1"/>
          </p:cNvSpPr>
          <p:nvPr>
            <p:ph type="subTitle" idx="2"/>
          </p:nvPr>
        </p:nvSpPr>
        <p:spPr>
          <a:xfrm>
            <a:off x="3621606" y="2291499"/>
            <a:ext cx="190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F4BB00"/>
                </a:solidFill>
              </a:rPr>
              <a:t>GPT-4, Claude, </a:t>
            </a:r>
            <a:r>
              <a:rPr lang="en-IN" dirty="0" err="1">
                <a:solidFill>
                  <a:srgbClr val="F4BB00"/>
                </a:solidFill>
              </a:rPr>
              <a:t>LLaMA</a:t>
            </a:r>
            <a:endParaRPr lang="en-IN" dirty="0">
              <a:solidFill>
                <a:srgbClr val="F4BB00"/>
              </a:solidFill>
            </a:endParaRPr>
          </a:p>
        </p:txBody>
      </p:sp>
      <p:sp>
        <p:nvSpPr>
          <p:cNvPr id="513" name="Google Shape;513;p51"/>
          <p:cNvSpPr txBox="1">
            <a:spLocks noGrp="1"/>
          </p:cNvSpPr>
          <p:nvPr>
            <p:ph type="subTitle" idx="3"/>
          </p:nvPr>
        </p:nvSpPr>
        <p:spPr>
          <a:xfrm>
            <a:off x="5805086" y="2291499"/>
            <a:ext cx="190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F4BB00"/>
                </a:solidFill>
              </a:rPr>
              <a:t>Redis, </a:t>
            </a:r>
            <a:r>
              <a:rPr lang="en-IN" dirty="0" err="1">
                <a:solidFill>
                  <a:srgbClr val="F4BB00"/>
                </a:solidFill>
              </a:rPr>
              <a:t>ChromaDB</a:t>
            </a:r>
            <a:r>
              <a:rPr lang="en-IN" dirty="0">
                <a:solidFill>
                  <a:srgbClr val="F4BB00"/>
                </a:solidFill>
              </a:rPr>
              <a:t>, JSON</a:t>
            </a:r>
          </a:p>
        </p:txBody>
      </p:sp>
      <p:sp>
        <p:nvSpPr>
          <p:cNvPr id="514" name="Google Shape;514;p51"/>
          <p:cNvSpPr txBox="1">
            <a:spLocks noGrp="1"/>
          </p:cNvSpPr>
          <p:nvPr>
            <p:ph type="subTitle" idx="6"/>
          </p:nvPr>
        </p:nvSpPr>
        <p:spPr>
          <a:xfrm>
            <a:off x="5805086" y="3560575"/>
            <a:ext cx="1900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err="1">
                <a:solidFill>
                  <a:srgbClr val="F4BB00"/>
                </a:solidFill>
              </a:rPr>
              <a:t>LangChain</a:t>
            </a:r>
            <a:r>
              <a:rPr lang="en-IN" dirty="0">
                <a:solidFill>
                  <a:srgbClr val="F4BB00"/>
                </a:solidFill>
              </a:rPr>
              <a:t>, Python,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F4BB00"/>
                </a:solidFill>
              </a:rPr>
              <a:t>MCP</a:t>
            </a:r>
          </a:p>
        </p:txBody>
      </p:sp>
      <p:sp>
        <p:nvSpPr>
          <p:cNvPr id="515" name="Google Shape;515;p51"/>
          <p:cNvSpPr txBox="1">
            <a:spLocks noGrp="1"/>
          </p:cNvSpPr>
          <p:nvPr>
            <p:ph type="subTitle" idx="14"/>
          </p:nvPr>
        </p:nvSpPr>
        <p:spPr>
          <a:xfrm>
            <a:off x="3494314" y="3075775"/>
            <a:ext cx="2028092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rgbClr val="F4BB00"/>
                </a:solidFill>
              </a:rPr>
              <a:t>GATING MODELS</a:t>
            </a:r>
            <a:endParaRPr sz="1700" dirty="0">
              <a:solidFill>
                <a:srgbClr val="F4BB00"/>
              </a:solidFill>
            </a:endParaRPr>
          </a:p>
        </p:txBody>
      </p:sp>
      <p:sp>
        <p:nvSpPr>
          <p:cNvPr id="516" name="Google Shape;516;p51"/>
          <p:cNvSpPr txBox="1">
            <a:spLocks noGrp="1"/>
          </p:cNvSpPr>
          <p:nvPr>
            <p:ph type="subTitle" idx="15"/>
          </p:nvPr>
        </p:nvSpPr>
        <p:spPr>
          <a:xfrm>
            <a:off x="5809073" y="3075775"/>
            <a:ext cx="19008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4BB00"/>
                </a:solidFill>
              </a:rPr>
              <a:t>ORCHESTRATION</a:t>
            </a:r>
            <a:endParaRPr sz="1600" dirty="0">
              <a:solidFill>
                <a:srgbClr val="F4BB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F88DDC-5F6D-6988-1638-D1A7B63F7501}"/>
              </a:ext>
            </a:extLst>
          </p:cNvPr>
          <p:cNvSpPr txBox="1"/>
          <p:nvPr/>
        </p:nvSpPr>
        <p:spPr>
          <a:xfrm>
            <a:off x="99064" y="4792025"/>
            <a:ext cx="5661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4BB00"/>
                </a:solidFill>
                <a:latin typeface="Aptos" panose="020B0004020202020204" pitchFamily="34" charset="0"/>
              </a:rPr>
              <a:t>Artificial Intelligence &amp; Data Science – ADD 416 (Project Phase 2)</a:t>
            </a:r>
            <a:endParaRPr lang="en-IN" sz="1200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8495BD-411B-B3F1-1FEE-FC0081BDCFAA}"/>
              </a:ext>
            </a:extLst>
          </p:cNvPr>
          <p:cNvSpPr txBox="1"/>
          <p:nvPr/>
        </p:nvSpPr>
        <p:spPr>
          <a:xfrm>
            <a:off x="7117084" y="4752438"/>
            <a:ext cx="1501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05/02/2026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2F1A87-AC30-61BE-66D9-5177DE23B4F5}"/>
              </a:ext>
            </a:extLst>
          </p:cNvPr>
          <p:cNvSpPr txBox="1"/>
          <p:nvPr/>
        </p:nvSpPr>
        <p:spPr>
          <a:xfrm>
            <a:off x="8686804" y="4753777"/>
            <a:ext cx="426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12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0"/>
          <p:cNvSpPr txBox="1">
            <a:spLocks noGrp="1"/>
          </p:cNvSpPr>
          <p:nvPr>
            <p:ph type="subTitle" idx="1"/>
          </p:nvPr>
        </p:nvSpPr>
        <p:spPr>
          <a:xfrm>
            <a:off x="2347929" y="1532925"/>
            <a:ext cx="18888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4BB00"/>
                </a:solidFill>
              </a:rPr>
              <a:t>PROBLEM</a:t>
            </a:r>
            <a:endParaRPr dirty="0">
              <a:solidFill>
                <a:srgbClr val="F4BB00"/>
              </a:solidFill>
            </a:endParaRPr>
          </a:p>
        </p:txBody>
      </p:sp>
      <p:sp>
        <p:nvSpPr>
          <p:cNvPr id="492" name="Google Shape;492;p50"/>
          <p:cNvSpPr txBox="1">
            <a:spLocks noGrp="1"/>
          </p:cNvSpPr>
          <p:nvPr>
            <p:ph type="subTitle" idx="2"/>
          </p:nvPr>
        </p:nvSpPr>
        <p:spPr>
          <a:xfrm>
            <a:off x="2347912" y="2017725"/>
            <a:ext cx="188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4BB00"/>
                </a:solidFill>
              </a:rPr>
              <a:t>LLM agents struggle with context overload and token inefficiency</a:t>
            </a:r>
          </a:p>
        </p:txBody>
      </p:sp>
      <p:sp>
        <p:nvSpPr>
          <p:cNvPr id="493" name="Google Shape;493;p50"/>
          <p:cNvSpPr txBox="1">
            <a:spLocks noGrp="1"/>
          </p:cNvSpPr>
          <p:nvPr>
            <p:ph type="subTitle" idx="3"/>
          </p:nvPr>
        </p:nvSpPr>
        <p:spPr>
          <a:xfrm>
            <a:off x="4907276" y="2017725"/>
            <a:ext cx="200514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4BB00"/>
                </a:solidFill>
              </a:rPr>
              <a:t>Designing a memory system that adapts across domains and data types</a:t>
            </a:r>
          </a:p>
        </p:txBody>
      </p:sp>
      <p:sp>
        <p:nvSpPr>
          <p:cNvPr id="494" name="Google Shape;494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4BB00"/>
                </a:solidFill>
              </a:rPr>
              <a:t>SCOPE OF THE PROJECT</a:t>
            </a:r>
            <a:endParaRPr dirty="0">
              <a:solidFill>
                <a:srgbClr val="F4BB00"/>
              </a:solidFill>
            </a:endParaRPr>
          </a:p>
        </p:txBody>
      </p:sp>
      <p:sp>
        <p:nvSpPr>
          <p:cNvPr id="495" name="Google Shape;495;p50"/>
          <p:cNvSpPr txBox="1">
            <a:spLocks noGrp="1"/>
          </p:cNvSpPr>
          <p:nvPr>
            <p:ph type="subTitle" idx="6"/>
          </p:nvPr>
        </p:nvSpPr>
        <p:spPr>
          <a:xfrm>
            <a:off x="2347929" y="2922850"/>
            <a:ext cx="18888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F4BB00"/>
                </a:solidFill>
              </a:rPr>
              <a:t>SOLUTION</a:t>
            </a:r>
          </a:p>
        </p:txBody>
      </p:sp>
      <p:sp>
        <p:nvSpPr>
          <p:cNvPr id="496" name="Google Shape;496;p50"/>
          <p:cNvSpPr txBox="1">
            <a:spLocks noGrp="1"/>
          </p:cNvSpPr>
          <p:nvPr>
            <p:ph type="subTitle" idx="4"/>
          </p:nvPr>
        </p:nvSpPr>
        <p:spPr>
          <a:xfrm>
            <a:off x="2231572" y="3407650"/>
            <a:ext cx="200514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solidFill>
                  <a:srgbClr val="F4BB00"/>
                </a:solidFill>
              </a:rPr>
              <a:t>A modular, pluggable architecture supporting text memory, user learning</a:t>
            </a:r>
          </a:p>
        </p:txBody>
      </p:sp>
      <p:sp>
        <p:nvSpPr>
          <p:cNvPr id="497" name="Google Shape;497;p50"/>
          <p:cNvSpPr txBox="1">
            <a:spLocks noGrp="1"/>
          </p:cNvSpPr>
          <p:nvPr>
            <p:ph type="subTitle" idx="5"/>
          </p:nvPr>
        </p:nvSpPr>
        <p:spPr>
          <a:xfrm>
            <a:off x="4907283" y="3407650"/>
            <a:ext cx="200514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4BB00"/>
                </a:solidFill>
              </a:rPr>
              <a:t>Scalable system for academic and enterprise use; ready for publication and deployment</a:t>
            </a:r>
          </a:p>
        </p:txBody>
      </p:sp>
      <p:sp>
        <p:nvSpPr>
          <p:cNvPr id="498" name="Google Shape;498;p50"/>
          <p:cNvSpPr txBox="1">
            <a:spLocks noGrp="1"/>
          </p:cNvSpPr>
          <p:nvPr>
            <p:ph type="subTitle" idx="7"/>
          </p:nvPr>
        </p:nvSpPr>
        <p:spPr>
          <a:xfrm>
            <a:off x="4907291" y="1532925"/>
            <a:ext cx="18888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F4BB00"/>
                </a:solidFill>
              </a:rPr>
              <a:t>CHALLENGE</a:t>
            </a:r>
          </a:p>
        </p:txBody>
      </p:sp>
      <p:sp>
        <p:nvSpPr>
          <p:cNvPr id="499" name="Google Shape;499;p50"/>
          <p:cNvSpPr txBox="1">
            <a:spLocks noGrp="1"/>
          </p:cNvSpPr>
          <p:nvPr>
            <p:ph type="subTitle" idx="8"/>
          </p:nvPr>
        </p:nvSpPr>
        <p:spPr>
          <a:xfrm>
            <a:off x="4907291" y="2922850"/>
            <a:ext cx="18888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4BB00"/>
                </a:solidFill>
              </a:rPr>
              <a:t>RESULTS</a:t>
            </a:r>
            <a:endParaRPr dirty="0">
              <a:solidFill>
                <a:srgbClr val="F4BB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F490BB-41D9-D0AB-EA81-AC5A89D868CB}"/>
              </a:ext>
            </a:extLst>
          </p:cNvPr>
          <p:cNvSpPr txBox="1"/>
          <p:nvPr/>
        </p:nvSpPr>
        <p:spPr>
          <a:xfrm>
            <a:off x="99064" y="4792025"/>
            <a:ext cx="5661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4BB00"/>
                </a:solidFill>
                <a:latin typeface="Aptos" panose="020B0004020202020204" pitchFamily="34" charset="0"/>
              </a:rPr>
              <a:t>Artificial Intelligence &amp; Data Science – ADD 416 (Project Phase 2)</a:t>
            </a:r>
            <a:endParaRPr lang="en-IN" sz="1200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9108E4-EFCC-F380-908B-EC9746F174D3}"/>
              </a:ext>
            </a:extLst>
          </p:cNvPr>
          <p:cNvSpPr txBox="1"/>
          <p:nvPr/>
        </p:nvSpPr>
        <p:spPr>
          <a:xfrm>
            <a:off x="7117084" y="4752438"/>
            <a:ext cx="1501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05/02/2026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8ABA8B-F756-6A16-98AB-D11F924E07C9}"/>
              </a:ext>
            </a:extLst>
          </p:cNvPr>
          <p:cNvSpPr txBox="1"/>
          <p:nvPr/>
        </p:nvSpPr>
        <p:spPr>
          <a:xfrm>
            <a:off x="8686804" y="4753777"/>
            <a:ext cx="426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13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F4BB00"/>
                </a:solidFill>
              </a:rPr>
              <a:t>ARCHITECTURE</a:t>
            </a:r>
            <a:endParaRPr sz="2800" dirty="0">
              <a:solidFill>
                <a:srgbClr val="F4BB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CE7F582-75DD-BA62-F26A-5A5ABC94373B}"/>
              </a:ext>
            </a:extLst>
          </p:cNvPr>
          <p:cNvSpPr/>
          <p:nvPr/>
        </p:nvSpPr>
        <p:spPr>
          <a:xfrm>
            <a:off x="6799800" y="1431930"/>
            <a:ext cx="1440000" cy="252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>
                <a:solidFill>
                  <a:schemeClr val="accent6"/>
                </a:solidFill>
              </a:rPr>
              <a:t>server.py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30E0957-8BDC-4B00-8568-53853DE5D19E}"/>
              </a:ext>
            </a:extLst>
          </p:cNvPr>
          <p:cNvSpPr/>
          <p:nvPr/>
        </p:nvSpPr>
        <p:spPr>
          <a:xfrm>
            <a:off x="6799800" y="1926635"/>
            <a:ext cx="1440000" cy="252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>
                <a:solidFill>
                  <a:schemeClr val="accent6"/>
                </a:solidFill>
              </a:rPr>
              <a:t>settings.py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67FE4E0-FC1E-718B-9B1A-1782EE765855}"/>
              </a:ext>
            </a:extLst>
          </p:cNvPr>
          <p:cNvSpPr/>
          <p:nvPr/>
        </p:nvSpPr>
        <p:spPr>
          <a:xfrm>
            <a:off x="6799800" y="2425541"/>
            <a:ext cx="1440000" cy="252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 err="1">
                <a:solidFill>
                  <a:schemeClr val="accent6"/>
                </a:solidFill>
              </a:rPr>
              <a:t>sample_memory.jsonl</a:t>
            </a:r>
            <a:endParaRPr lang="en-IN" sz="1000" dirty="0">
              <a:solidFill>
                <a:schemeClr val="accent6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1D16D6E-0EF0-8A8D-F085-FF9F3E0B8E3C}"/>
              </a:ext>
            </a:extLst>
          </p:cNvPr>
          <p:cNvSpPr/>
          <p:nvPr/>
        </p:nvSpPr>
        <p:spPr>
          <a:xfrm>
            <a:off x="1008186" y="4333017"/>
            <a:ext cx="1440000" cy="252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>
                <a:solidFill>
                  <a:schemeClr val="accent6"/>
                </a:solidFill>
              </a:rPr>
              <a:t>evaluator.py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753D5CE-A043-9396-3A11-ED9033A97CED}"/>
              </a:ext>
            </a:extLst>
          </p:cNvPr>
          <p:cNvSpPr/>
          <p:nvPr/>
        </p:nvSpPr>
        <p:spPr>
          <a:xfrm>
            <a:off x="6799800" y="3424243"/>
            <a:ext cx="1440000" cy="252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>
                <a:solidFill>
                  <a:schemeClr val="accent6"/>
                </a:solidFill>
              </a:rPr>
              <a:t>README.md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FC32F0-EE7D-4025-FADD-848A503CCD31}"/>
              </a:ext>
            </a:extLst>
          </p:cNvPr>
          <p:cNvSpPr/>
          <p:nvPr/>
        </p:nvSpPr>
        <p:spPr>
          <a:xfrm>
            <a:off x="6799800" y="3678844"/>
            <a:ext cx="1440000" cy="252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>
                <a:solidFill>
                  <a:schemeClr val="accent6"/>
                </a:solidFill>
              </a:rPr>
              <a:t>requirements.txt</a:t>
            </a:r>
            <a:endParaRPr lang="en-IN" sz="1200" dirty="0">
              <a:solidFill>
                <a:schemeClr val="accent6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59F4F1D-5A52-3E01-6DAB-DC3CF215F616}"/>
              </a:ext>
            </a:extLst>
          </p:cNvPr>
          <p:cNvSpPr/>
          <p:nvPr/>
        </p:nvSpPr>
        <p:spPr>
          <a:xfrm>
            <a:off x="6799800" y="3928023"/>
            <a:ext cx="1440000" cy="252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>
                <a:solidFill>
                  <a:schemeClr val="accent6"/>
                </a:solidFill>
              </a:rPr>
              <a:t>Dockerfile</a:t>
            </a:r>
            <a:endParaRPr lang="en-IN" sz="1200" dirty="0">
              <a:solidFill>
                <a:schemeClr val="accent6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D3F051C-FF1B-EAD6-519D-2FA34CE1B8CB}"/>
              </a:ext>
            </a:extLst>
          </p:cNvPr>
          <p:cNvSpPr/>
          <p:nvPr/>
        </p:nvSpPr>
        <p:spPr>
          <a:xfrm>
            <a:off x="6799800" y="4182624"/>
            <a:ext cx="1440000" cy="252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>
                <a:solidFill>
                  <a:schemeClr val="accent6"/>
                </a:solidFill>
              </a:rPr>
              <a:t>.env.example</a:t>
            </a:r>
            <a:endParaRPr lang="en-IN" sz="1200" dirty="0">
              <a:solidFill>
                <a:schemeClr val="accent6"/>
              </a:solidFill>
            </a:endParaRP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C35C0822-AAF7-C8F1-ECEF-0932512CEDA6}"/>
              </a:ext>
            </a:extLst>
          </p:cNvPr>
          <p:cNvSpPr/>
          <p:nvPr/>
        </p:nvSpPr>
        <p:spPr>
          <a:xfrm>
            <a:off x="6799800" y="4433563"/>
            <a:ext cx="1440000" cy="252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>
                <a:solidFill>
                  <a:schemeClr val="accent6"/>
                </a:solidFill>
              </a:rPr>
              <a:t>.gitignore</a:t>
            </a:r>
            <a:endParaRPr lang="en-IN" sz="1200" dirty="0">
              <a:solidFill>
                <a:schemeClr val="accent6"/>
              </a:solidFill>
            </a:endParaRPr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860CB3F4-43D7-CFE1-374C-82D8517928D5}"/>
              </a:ext>
            </a:extLst>
          </p:cNvPr>
          <p:cNvSpPr/>
          <p:nvPr/>
        </p:nvSpPr>
        <p:spPr>
          <a:xfrm>
            <a:off x="3932500" y="1668220"/>
            <a:ext cx="1440000" cy="252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>
                <a:solidFill>
                  <a:schemeClr val="accent6"/>
                </a:solidFill>
              </a:rPr>
              <a:t>api.py</a:t>
            </a: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59B0FB2B-2733-58BA-C0C2-289BAFC8F91E}"/>
              </a:ext>
            </a:extLst>
          </p:cNvPr>
          <p:cNvSpPr/>
          <p:nvPr/>
        </p:nvSpPr>
        <p:spPr>
          <a:xfrm>
            <a:off x="3932500" y="1920000"/>
            <a:ext cx="1440000" cy="252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>
                <a:solidFill>
                  <a:schemeClr val="accent6"/>
                </a:solidFill>
              </a:rPr>
              <a:t>token_gater.py</a:t>
            </a:r>
            <a:endParaRPr lang="en-IN" sz="1200" dirty="0">
              <a:solidFill>
                <a:schemeClr val="accent6"/>
              </a:solidFill>
            </a:endParaRP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A2F9D72B-A18E-D592-B1FE-A28B61953B21}"/>
              </a:ext>
            </a:extLst>
          </p:cNvPr>
          <p:cNvSpPr/>
          <p:nvPr/>
        </p:nvSpPr>
        <p:spPr>
          <a:xfrm>
            <a:off x="3932500" y="2170939"/>
            <a:ext cx="1440000" cy="252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>
                <a:solidFill>
                  <a:schemeClr val="accent6"/>
                </a:solidFill>
              </a:rPr>
              <a:t>retriever.py</a:t>
            </a:r>
            <a:endParaRPr lang="en-IN" sz="1200" dirty="0">
              <a:solidFill>
                <a:schemeClr val="accent6"/>
              </a:solidFill>
            </a:endParaRP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63DD14CB-84C3-CC3A-2C58-CFD7034FCECC}"/>
              </a:ext>
            </a:extLst>
          </p:cNvPr>
          <p:cNvSpPr/>
          <p:nvPr/>
        </p:nvSpPr>
        <p:spPr>
          <a:xfrm>
            <a:off x="3932500" y="2425540"/>
            <a:ext cx="1440000" cy="252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050" dirty="0">
                <a:solidFill>
                  <a:schemeClr val="accent6"/>
                </a:solidFill>
              </a:rPr>
              <a:t>memory_provider.py</a:t>
            </a:r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14C98174-8E23-0511-00D2-70901FFF6985}"/>
              </a:ext>
            </a:extLst>
          </p:cNvPr>
          <p:cNvSpPr/>
          <p:nvPr/>
        </p:nvSpPr>
        <p:spPr>
          <a:xfrm>
            <a:off x="3932500" y="2677320"/>
            <a:ext cx="1440000" cy="252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>
                <a:solidFill>
                  <a:schemeClr val="accent6"/>
                </a:solidFill>
              </a:rPr>
              <a:t>models.py</a:t>
            </a:r>
            <a:endParaRPr lang="en-IN" sz="1200" dirty="0">
              <a:solidFill>
                <a:schemeClr val="accent6"/>
              </a:solidFill>
            </a:endParaRP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1EBDA833-43FB-8894-6271-575A8F6F46C9}"/>
              </a:ext>
            </a:extLst>
          </p:cNvPr>
          <p:cNvSpPr/>
          <p:nvPr/>
        </p:nvSpPr>
        <p:spPr>
          <a:xfrm>
            <a:off x="3932500" y="2928259"/>
            <a:ext cx="1440000" cy="252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>
                <a:solidFill>
                  <a:schemeClr val="accent6"/>
                </a:solidFill>
              </a:rPr>
              <a:t>utils.py</a:t>
            </a:r>
            <a:endParaRPr lang="en-IN" sz="1200" dirty="0">
              <a:solidFill>
                <a:schemeClr val="accent6"/>
              </a:solidFill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8D54F2BB-A141-93E3-F080-20F93FEB55B4}"/>
              </a:ext>
            </a:extLst>
          </p:cNvPr>
          <p:cNvSpPr/>
          <p:nvPr/>
        </p:nvSpPr>
        <p:spPr>
          <a:xfrm>
            <a:off x="3932500" y="3172243"/>
            <a:ext cx="1440000" cy="252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>
                <a:solidFill>
                  <a:schemeClr val="accent6"/>
                </a:solidFill>
              </a:rPr>
              <a:t>prompt.py</a:t>
            </a:r>
            <a:endParaRPr lang="en-IN" sz="1200" dirty="0">
              <a:solidFill>
                <a:schemeClr val="accent6"/>
              </a:solidFill>
            </a:endParaRP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F264CC05-7B35-A6B4-A991-C3F9FA213D28}"/>
              </a:ext>
            </a:extLst>
          </p:cNvPr>
          <p:cNvSpPr/>
          <p:nvPr/>
        </p:nvSpPr>
        <p:spPr>
          <a:xfrm>
            <a:off x="1008186" y="3578298"/>
            <a:ext cx="1440000" cy="252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>
                <a:solidFill>
                  <a:schemeClr val="accent6"/>
                </a:solidFill>
              </a:rPr>
              <a:t>bench_run.py</a:t>
            </a: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A1003192-BFAB-F590-AFF3-A00C91A97744}"/>
              </a:ext>
            </a:extLst>
          </p:cNvPr>
          <p:cNvSpPr/>
          <p:nvPr/>
        </p:nvSpPr>
        <p:spPr>
          <a:xfrm>
            <a:off x="1008186" y="3830078"/>
            <a:ext cx="1440000" cy="252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>
                <a:solidFill>
                  <a:schemeClr val="accent6"/>
                </a:solidFill>
              </a:rPr>
              <a:t>embed_index.py</a:t>
            </a:r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CFED6D1D-AA30-1CE6-030B-D2DC373CC93A}"/>
              </a:ext>
            </a:extLst>
          </p:cNvPr>
          <p:cNvSpPr/>
          <p:nvPr/>
        </p:nvSpPr>
        <p:spPr>
          <a:xfrm>
            <a:off x="904200" y="1668220"/>
            <a:ext cx="1440000" cy="252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>
                <a:solidFill>
                  <a:schemeClr val="accent6"/>
                </a:solidFill>
              </a:rPr>
              <a:t>test_api.py</a:t>
            </a:r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FB538501-054B-0AC4-E2A4-1DD125CEA669}"/>
              </a:ext>
            </a:extLst>
          </p:cNvPr>
          <p:cNvSpPr/>
          <p:nvPr/>
        </p:nvSpPr>
        <p:spPr>
          <a:xfrm>
            <a:off x="904200" y="1920000"/>
            <a:ext cx="1440000" cy="252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>
                <a:solidFill>
                  <a:schemeClr val="accent6"/>
                </a:solidFill>
              </a:rPr>
              <a:t>test_gating.py</a:t>
            </a: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E8CC8C45-1870-7EC7-2EF3-3CB5BEA25982}"/>
              </a:ext>
            </a:extLst>
          </p:cNvPr>
          <p:cNvSpPr/>
          <p:nvPr/>
        </p:nvSpPr>
        <p:spPr>
          <a:xfrm>
            <a:off x="904200" y="2170939"/>
            <a:ext cx="1440000" cy="252000"/>
          </a:xfrm>
          <a:prstGeom prst="rect">
            <a:avLst/>
          </a:prstGeom>
          <a:solidFill>
            <a:srgbClr val="7F0404"/>
          </a:solidFill>
          <a:ln>
            <a:solidFill>
              <a:srgbClr val="F4B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>
                <a:solidFill>
                  <a:schemeClr val="accent6"/>
                </a:solidFill>
              </a:rPr>
              <a:t>test_retriever.py</a:t>
            </a:r>
          </a:p>
        </p:txBody>
      </p:sp>
      <p:cxnSp>
        <p:nvCxnSpPr>
          <p:cNvPr id="477" name="Connector: Elbow 476">
            <a:extLst>
              <a:ext uri="{FF2B5EF4-FFF2-40B4-BE49-F238E27FC236}">
                <a16:creationId xmlns:a16="http://schemas.microsoft.com/office/drawing/2014/main" id="{5D6DF9BB-3F09-805E-46B6-4DB5900F2A91}"/>
              </a:ext>
            </a:extLst>
          </p:cNvPr>
          <p:cNvCxnSpPr>
            <a:stCxn id="31" idx="1"/>
            <a:endCxn id="450" idx="0"/>
          </p:cNvCxnSpPr>
          <p:nvPr/>
        </p:nvCxnSpPr>
        <p:spPr>
          <a:xfrm rot="10800000" flipV="1">
            <a:off x="4652500" y="1557930"/>
            <a:ext cx="2147300" cy="110290"/>
          </a:xfrm>
          <a:prstGeom prst="bent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: Elbow 478">
            <a:extLst>
              <a:ext uri="{FF2B5EF4-FFF2-40B4-BE49-F238E27FC236}">
                <a16:creationId xmlns:a16="http://schemas.microsoft.com/office/drawing/2014/main" id="{91B9C6E7-F424-2015-016B-22BC0DE50987}"/>
              </a:ext>
            </a:extLst>
          </p:cNvPr>
          <p:cNvCxnSpPr>
            <a:cxnSpLocks/>
            <a:stCxn id="450" idx="1"/>
            <a:endCxn id="455" idx="1"/>
          </p:cNvCxnSpPr>
          <p:nvPr/>
        </p:nvCxnSpPr>
        <p:spPr>
          <a:xfrm rot="10800000" flipV="1">
            <a:off x="3932500" y="1794220"/>
            <a:ext cx="12700" cy="757320"/>
          </a:xfrm>
          <a:prstGeom prst="bentConnector3">
            <a:avLst>
              <a:gd name="adj1" fmla="val 180000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: Elbow 482">
            <a:extLst>
              <a:ext uri="{FF2B5EF4-FFF2-40B4-BE49-F238E27FC236}">
                <a16:creationId xmlns:a16="http://schemas.microsoft.com/office/drawing/2014/main" id="{81C87A90-8BC8-2C3B-EFE5-9B74F60452E5}"/>
              </a:ext>
            </a:extLst>
          </p:cNvPr>
          <p:cNvCxnSpPr>
            <a:cxnSpLocks/>
            <a:stCxn id="450" idx="1"/>
            <a:endCxn id="454" idx="1"/>
          </p:cNvCxnSpPr>
          <p:nvPr/>
        </p:nvCxnSpPr>
        <p:spPr>
          <a:xfrm rot="10800000" flipV="1">
            <a:off x="3932500" y="1794219"/>
            <a:ext cx="12700" cy="502719"/>
          </a:xfrm>
          <a:prstGeom prst="bentConnector3">
            <a:avLst>
              <a:gd name="adj1" fmla="val 180000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: Elbow 484">
            <a:extLst>
              <a:ext uri="{FF2B5EF4-FFF2-40B4-BE49-F238E27FC236}">
                <a16:creationId xmlns:a16="http://schemas.microsoft.com/office/drawing/2014/main" id="{4A14E6C8-1E00-8A37-728C-7B2F6386065F}"/>
              </a:ext>
            </a:extLst>
          </p:cNvPr>
          <p:cNvCxnSpPr>
            <a:cxnSpLocks/>
            <a:stCxn id="450" idx="1"/>
            <a:endCxn id="451" idx="1"/>
          </p:cNvCxnSpPr>
          <p:nvPr/>
        </p:nvCxnSpPr>
        <p:spPr>
          <a:xfrm rot="10800000" flipV="1">
            <a:off x="3932500" y="1794220"/>
            <a:ext cx="12700" cy="251780"/>
          </a:xfrm>
          <a:prstGeom prst="bentConnector3">
            <a:avLst>
              <a:gd name="adj1" fmla="val 180000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: Elbow 486">
            <a:extLst>
              <a:ext uri="{FF2B5EF4-FFF2-40B4-BE49-F238E27FC236}">
                <a16:creationId xmlns:a16="http://schemas.microsoft.com/office/drawing/2014/main" id="{4E34B402-EC4C-DE82-167E-BE91965DED65}"/>
              </a:ext>
            </a:extLst>
          </p:cNvPr>
          <p:cNvCxnSpPr>
            <a:cxnSpLocks/>
            <a:stCxn id="450" idx="1"/>
            <a:endCxn id="458" idx="1"/>
          </p:cNvCxnSpPr>
          <p:nvPr/>
        </p:nvCxnSpPr>
        <p:spPr>
          <a:xfrm rot="10800000" flipV="1">
            <a:off x="3932500" y="1794219"/>
            <a:ext cx="12700" cy="1504023"/>
          </a:xfrm>
          <a:prstGeom prst="bentConnector3">
            <a:avLst>
              <a:gd name="adj1" fmla="val 180000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: Elbow 488">
            <a:extLst>
              <a:ext uri="{FF2B5EF4-FFF2-40B4-BE49-F238E27FC236}">
                <a16:creationId xmlns:a16="http://schemas.microsoft.com/office/drawing/2014/main" id="{823825C3-64E0-4654-D201-072400152951}"/>
              </a:ext>
            </a:extLst>
          </p:cNvPr>
          <p:cNvCxnSpPr>
            <a:stCxn id="451" idx="3"/>
            <a:endCxn id="458" idx="3"/>
          </p:cNvCxnSpPr>
          <p:nvPr/>
        </p:nvCxnSpPr>
        <p:spPr>
          <a:xfrm>
            <a:off x="5372500" y="2046000"/>
            <a:ext cx="12700" cy="1252243"/>
          </a:xfrm>
          <a:prstGeom prst="bentConnector3">
            <a:avLst>
              <a:gd name="adj1" fmla="val 1800000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: Elbow 502">
            <a:extLst>
              <a:ext uri="{FF2B5EF4-FFF2-40B4-BE49-F238E27FC236}">
                <a16:creationId xmlns:a16="http://schemas.microsoft.com/office/drawing/2014/main" id="{782AF4BD-CE7E-2B89-FC11-5D22CE2AD3B8}"/>
              </a:ext>
            </a:extLst>
          </p:cNvPr>
          <p:cNvCxnSpPr>
            <a:stCxn id="50" idx="1"/>
            <a:endCxn id="450" idx="3"/>
          </p:cNvCxnSpPr>
          <p:nvPr/>
        </p:nvCxnSpPr>
        <p:spPr>
          <a:xfrm rot="10800000">
            <a:off x="5372500" y="1794221"/>
            <a:ext cx="1427300" cy="258415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: Elbow 504">
            <a:extLst>
              <a:ext uri="{FF2B5EF4-FFF2-40B4-BE49-F238E27FC236}">
                <a16:creationId xmlns:a16="http://schemas.microsoft.com/office/drawing/2014/main" id="{61E16BF1-918C-AEC9-5B54-F8D412EE8DED}"/>
              </a:ext>
            </a:extLst>
          </p:cNvPr>
          <p:cNvCxnSpPr>
            <a:stCxn id="50" idx="1"/>
            <a:endCxn id="454" idx="3"/>
          </p:cNvCxnSpPr>
          <p:nvPr/>
        </p:nvCxnSpPr>
        <p:spPr>
          <a:xfrm rot="10800000" flipV="1">
            <a:off x="5372500" y="2052635"/>
            <a:ext cx="1427300" cy="244304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: Elbow 509">
            <a:extLst>
              <a:ext uri="{FF2B5EF4-FFF2-40B4-BE49-F238E27FC236}">
                <a16:creationId xmlns:a16="http://schemas.microsoft.com/office/drawing/2014/main" id="{511895EC-D93F-54E4-11BE-33CAE2B257CB}"/>
              </a:ext>
            </a:extLst>
          </p:cNvPr>
          <p:cNvCxnSpPr>
            <a:stCxn id="50" idx="1"/>
            <a:endCxn id="451" idx="3"/>
          </p:cNvCxnSpPr>
          <p:nvPr/>
        </p:nvCxnSpPr>
        <p:spPr>
          <a:xfrm rot="10800000">
            <a:off x="5372500" y="2046001"/>
            <a:ext cx="1427300" cy="6635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: Elbow 511">
            <a:extLst>
              <a:ext uri="{FF2B5EF4-FFF2-40B4-BE49-F238E27FC236}">
                <a16:creationId xmlns:a16="http://schemas.microsoft.com/office/drawing/2014/main" id="{F56A26D0-69CF-3F9D-BF7A-E423F1616D41}"/>
              </a:ext>
            </a:extLst>
          </p:cNvPr>
          <p:cNvCxnSpPr>
            <a:stCxn id="459" idx="1"/>
            <a:endCxn id="56" idx="1"/>
          </p:cNvCxnSpPr>
          <p:nvPr/>
        </p:nvCxnSpPr>
        <p:spPr>
          <a:xfrm rot="10800000" flipV="1">
            <a:off x="1008186" y="3704297"/>
            <a:ext cx="12700" cy="754719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Connector: Elbow 513">
            <a:extLst>
              <a:ext uri="{FF2B5EF4-FFF2-40B4-BE49-F238E27FC236}">
                <a16:creationId xmlns:a16="http://schemas.microsoft.com/office/drawing/2014/main" id="{B4C8F3B9-ED78-66C2-C3CF-C54686DF2134}"/>
              </a:ext>
            </a:extLst>
          </p:cNvPr>
          <p:cNvCxnSpPr>
            <a:cxnSpLocks/>
            <a:stCxn id="460" idx="3"/>
            <a:endCxn id="454" idx="1"/>
          </p:cNvCxnSpPr>
          <p:nvPr/>
        </p:nvCxnSpPr>
        <p:spPr>
          <a:xfrm flipV="1">
            <a:off x="2448186" y="2296939"/>
            <a:ext cx="1484314" cy="1659139"/>
          </a:xfrm>
          <a:prstGeom prst="bentConnector3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: Elbow 516">
            <a:extLst>
              <a:ext uri="{FF2B5EF4-FFF2-40B4-BE49-F238E27FC236}">
                <a16:creationId xmlns:a16="http://schemas.microsoft.com/office/drawing/2014/main" id="{517E054E-450C-155F-DDCF-07CF544E0C2D}"/>
              </a:ext>
            </a:extLst>
          </p:cNvPr>
          <p:cNvCxnSpPr>
            <a:stCxn id="52" idx="1"/>
            <a:endCxn id="455" idx="3"/>
          </p:cNvCxnSpPr>
          <p:nvPr/>
        </p:nvCxnSpPr>
        <p:spPr>
          <a:xfrm rot="10800000">
            <a:off x="5372500" y="2551541"/>
            <a:ext cx="1427300" cy="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1" name="Straight Arrow Connector 520">
            <a:extLst>
              <a:ext uri="{FF2B5EF4-FFF2-40B4-BE49-F238E27FC236}">
                <a16:creationId xmlns:a16="http://schemas.microsoft.com/office/drawing/2014/main" id="{9A0D6E78-B97D-BB90-C10C-606514EBF650}"/>
              </a:ext>
            </a:extLst>
          </p:cNvPr>
          <p:cNvCxnSpPr>
            <a:stCxn id="461" idx="3"/>
            <a:endCxn id="450" idx="1"/>
          </p:cNvCxnSpPr>
          <p:nvPr/>
        </p:nvCxnSpPr>
        <p:spPr>
          <a:xfrm>
            <a:off x="2344200" y="1794220"/>
            <a:ext cx="1588300" cy="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Straight Arrow Connector 522">
            <a:extLst>
              <a:ext uri="{FF2B5EF4-FFF2-40B4-BE49-F238E27FC236}">
                <a16:creationId xmlns:a16="http://schemas.microsoft.com/office/drawing/2014/main" id="{837AB37F-B16B-EDC9-2FEA-5EB32E4131AD}"/>
              </a:ext>
            </a:extLst>
          </p:cNvPr>
          <p:cNvCxnSpPr>
            <a:stCxn id="462" idx="3"/>
            <a:endCxn id="451" idx="1"/>
          </p:cNvCxnSpPr>
          <p:nvPr/>
        </p:nvCxnSpPr>
        <p:spPr>
          <a:xfrm>
            <a:off x="2344200" y="2046000"/>
            <a:ext cx="1588300" cy="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Straight Arrow Connector 524">
            <a:extLst>
              <a:ext uri="{FF2B5EF4-FFF2-40B4-BE49-F238E27FC236}">
                <a16:creationId xmlns:a16="http://schemas.microsoft.com/office/drawing/2014/main" id="{95EE524C-4454-F869-F3F4-F0E15CA292F4}"/>
              </a:ext>
            </a:extLst>
          </p:cNvPr>
          <p:cNvCxnSpPr>
            <a:stCxn id="463" idx="3"/>
            <a:endCxn id="454" idx="1"/>
          </p:cNvCxnSpPr>
          <p:nvPr/>
        </p:nvCxnSpPr>
        <p:spPr>
          <a:xfrm>
            <a:off x="2344200" y="2296939"/>
            <a:ext cx="1588300" cy="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Connector: Elbow 530">
            <a:extLst>
              <a:ext uri="{FF2B5EF4-FFF2-40B4-BE49-F238E27FC236}">
                <a16:creationId xmlns:a16="http://schemas.microsoft.com/office/drawing/2014/main" id="{0FA94149-7B2B-0996-35E1-0636C76A354D}"/>
              </a:ext>
            </a:extLst>
          </p:cNvPr>
          <p:cNvCxnSpPr>
            <a:stCxn id="456" idx="1"/>
            <a:endCxn id="459" idx="3"/>
          </p:cNvCxnSpPr>
          <p:nvPr/>
        </p:nvCxnSpPr>
        <p:spPr>
          <a:xfrm rot="10800000" flipV="1">
            <a:off x="2448186" y="2803320"/>
            <a:ext cx="1484314" cy="900978"/>
          </a:xfrm>
          <a:prstGeom prst="bentConnector3">
            <a:avLst/>
          </a:prstGeom>
          <a:ln>
            <a:solidFill>
              <a:srgbClr val="4D141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2" name="TextBox 531">
            <a:extLst>
              <a:ext uri="{FF2B5EF4-FFF2-40B4-BE49-F238E27FC236}">
                <a16:creationId xmlns:a16="http://schemas.microsoft.com/office/drawing/2014/main" id="{4D1B3EC3-3575-30A4-1665-1334B93F960E}"/>
              </a:ext>
            </a:extLst>
          </p:cNvPr>
          <p:cNvSpPr txBox="1"/>
          <p:nvPr/>
        </p:nvSpPr>
        <p:spPr>
          <a:xfrm>
            <a:off x="99064" y="4792025"/>
            <a:ext cx="5661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4BB00"/>
                </a:solidFill>
                <a:latin typeface="Aptos" panose="020B0004020202020204" pitchFamily="34" charset="0"/>
              </a:rPr>
              <a:t>Artificial Intelligence &amp; Data Science – ADD 416 (Project Phase 2)</a:t>
            </a:r>
            <a:endParaRPr lang="en-IN" sz="1200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533" name="TextBox 532">
            <a:extLst>
              <a:ext uri="{FF2B5EF4-FFF2-40B4-BE49-F238E27FC236}">
                <a16:creationId xmlns:a16="http://schemas.microsoft.com/office/drawing/2014/main" id="{687E4673-28D1-55FC-74F1-6924C7203F21}"/>
              </a:ext>
            </a:extLst>
          </p:cNvPr>
          <p:cNvSpPr txBox="1"/>
          <p:nvPr/>
        </p:nvSpPr>
        <p:spPr>
          <a:xfrm>
            <a:off x="7117084" y="4752438"/>
            <a:ext cx="1501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05/02/2026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534" name="TextBox 533">
            <a:extLst>
              <a:ext uri="{FF2B5EF4-FFF2-40B4-BE49-F238E27FC236}">
                <a16:creationId xmlns:a16="http://schemas.microsoft.com/office/drawing/2014/main" id="{98708F66-C659-7E48-721B-FCC4848528D8}"/>
              </a:ext>
            </a:extLst>
          </p:cNvPr>
          <p:cNvSpPr txBox="1"/>
          <p:nvPr/>
        </p:nvSpPr>
        <p:spPr>
          <a:xfrm>
            <a:off x="8686804" y="4753777"/>
            <a:ext cx="426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14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833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4BB00"/>
                </a:solidFill>
              </a:rPr>
              <a:t>GATING ALGORITHM</a:t>
            </a:r>
            <a:endParaRPr dirty="0">
              <a:solidFill>
                <a:srgbClr val="F4BB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5" name="Google Shape;445;p45"/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1437936" y="1287756"/>
                <a:ext cx="6120151" cy="3504269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85750" lvl="0" indent="-28575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en-US" sz="2000" b="1" i="1" dirty="0" smtClean="0">
                        <a:solidFill>
                          <a:srgbClr val="F4BB00"/>
                        </a:solidFill>
                        <a:latin typeface="Cambria Math" panose="02040503050406030204" pitchFamily="18" charset="0"/>
                      </a:rPr>
                      <m:t>𝒎𝒆𝒎𝒐𝒓𝒚</m:t>
                    </m:r>
                    <m:r>
                      <a:rPr lang="en-US" altLang="en-US" sz="2000" b="1" i="1" dirty="0" smtClean="0">
                        <a:solidFill>
                          <a:srgbClr val="F4BB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2000" b="1" i="1" dirty="0" smtClean="0">
                        <a:solidFill>
                          <a:srgbClr val="F4BB00"/>
                        </a:solidFill>
                        <a:latin typeface="Cambria Math" panose="02040503050406030204" pitchFamily="18" charset="0"/>
                      </a:rPr>
                      <m:t>𝒉𝒊𝒕</m:t>
                    </m:r>
                    <m:r>
                      <a:rPr lang="en-US" altLang="en-US" sz="2000" b="1" i="1" dirty="0" smtClean="0">
                        <a:solidFill>
                          <a:srgbClr val="F4BB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2000" b="1" i="1" dirty="0" smtClean="0">
                        <a:solidFill>
                          <a:srgbClr val="F4BB00"/>
                        </a:solidFill>
                        <a:latin typeface="Cambria Math" panose="02040503050406030204" pitchFamily="18" charset="0"/>
                      </a:rPr>
                      <m:t>𝒓𝒂𝒕𝒊𝒐</m:t>
                    </m:r>
                    <m:r>
                      <a:rPr lang="en-US" altLang="en-US" sz="2000" b="1" i="1" dirty="0" smtClean="0">
                        <a:solidFill>
                          <a:srgbClr val="F4BB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sz="2000" b="1" i="1" dirty="0" smtClean="0">
                            <a:solidFill>
                              <a:srgbClr val="F4BB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000" b="1" i="1" dirty="0" err="1" smtClean="0">
                            <a:solidFill>
                              <a:srgbClr val="F4BB00"/>
                            </a:solidFill>
                            <a:latin typeface="Cambria Math" panose="02040503050406030204" pitchFamily="18" charset="0"/>
                          </a:rPr>
                          <m:t>𝒖𝒔𝒆𝒇𝒖</m:t>
                        </m:r>
                        <m:r>
                          <a:rPr lang="en-US" altLang="en-US" sz="2000" b="1" i="1" dirty="0" smtClean="0">
                            <a:solidFill>
                              <a:srgbClr val="F4BB00"/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  <m:r>
                          <a:rPr lang="en-US" altLang="en-US" sz="2000" b="1" i="1" dirty="0" smtClean="0">
                            <a:solidFill>
                              <a:srgbClr val="F4BB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en-US" sz="2000" b="1" i="1" dirty="0" smtClean="0">
                            <a:solidFill>
                              <a:srgbClr val="F4BB00"/>
                            </a:solidFill>
                            <a:latin typeface="Cambria Math" panose="02040503050406030204" pitchFamily="18" charset="0"/>
                          </a:rPr>
                          <m:t>𝒎𝒆𝒎𝒐𝒓𝒊𝒆𝒔</m:t>
                        </m:r>
                        <m:r>
                          <a:rPr lang="en-US" altLang="en-US" sz="2000" b="1" i="1" dirty="0" smtClean="0">
                            <a:solidFill>
                              <a:srgbClr val="F4BB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altLang="en-US" sz="2000" b="1" i="1" dirty="0" err="1" smtClean="0">
                            <a:solidFill>
                              <a:srgbClr val="F4BB00"/>
                            </a:solidFill>
                            <a:latin typeface="Cambria Math" panose="02040503050406030204" pitchFamily="18" charset="0"/>
                          </a:rPr>
                          <m:t>𝒓𝒆𝒕𝒓𝒊𝒆𝒗𝒆</m:t>
                        </m:r>
                        <m:r>
                          <a:rPr lang="en-US" altLang="en-US" sz="2000" b="1" i="1" dirty="0" smtClean="0">
                            <a:solidFill>
                              <a:srgbClr val="F4BB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altLang="en-US" sz="2000" b="1" i="1" dirty="0" smtClean="0">
                            <a:solidFill>
                              <a:srgbClr val="F4BB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en-US" sz="2000" b="1" i="1" dirty="0" smtClean="0">
                            <a:solidFill>
                              <a:srgbClr val="F4BB00"/>
                            </a:solidFill>
                            <a:latin typeface="Cambria Math" panose="02040503050406030204" pitchFamily="18" charset="0"/>
                          </a:rPr>
                          <m:t>𝒎𝒆𝒎𝒐𝒓𝒊𝒆𝒔</m:t>
                        </m:r>
                      </m:den>
                    </m:f>
                  </m:oMath>
                </a14:m>
                <a:endParaRPr dirty="0"/>
              </a:p>
              <a:p>
                <a:pPr marL="285750" indent="-28575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Ø"/>
                </a:pPr>
                <a:r>
                  <a:rPr lang="en-US" sz="1400" b="1" u="sng" dirty="0">
                    <a:solidFill>
                      <a:srgbClr val="F4BB00"/>
                    </a:solidFill>
                  </a:rPr>
                  <a:t>Context window optimization</a:t>
                </a:r>
              </a:p>
              <a:p>
                <a:pPr marL="742950" lvl="1" indent="-28575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Ø"/>
                </a:pPr>
                <a:r>
                  <a:rPr lang="en-US" sz="1400" dirty="0">
                    <a:solidFill>
                      <a:srgbClr val="F4BB00"/>
                    </a:solidFill>
                  </a:rPr>
                  <a:t>Not all chat history is injected</a:t>
                </a:r>
              </a:p>
              <a:p>
                <a:pPr marL="742950" lvl="1" indent="-28575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Ø"/>
                </a:pPr>
                <a:r>
                  <a:rPr lang="en-US" sz="1400" dirty="0">
                    <a:solidFill>
                      <a:srgbClr val="F4BB00"/>
                    </a:solidFill>
                  </a:rPr>
                  <a:t>Only entropy-reducing messages survive</a:t>
                </a:r>
              </a:p>
              <a:p>
                <a:pPr marL="457200" lvl="1" indent="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</a:pPr>
                <a:endParaRPr lang="en-US" sz="1400" b="1" dirty="0">
                  <a:solidFill>
                    <a:srgbClr val="F4BB00"/>
                  </a:solidFill>
                </a:endParaRPr>
              </a:p>
              <a:p>
                <a:pPr marL="285750" indent="-28575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Ø"/>
                </a:pPr>
                <a:r>
                  <a:rPr lang="en-US" sz="1400" b="1" u="sng" dirty="0">
                    <a:solidFill>
                      <a:srgbClr val="F4BB00"/>
                    </a:solidFill>
                  </a:rPr>
                  <a:t>Shannon entropy as usefulness signal</a:t>
                </a:r>
              </a:p>
              <a:p>
                <a:pPr marL="742950" lvl="1" indent="-28575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Ø"/>
                </a:pPr>
                <a:r>
                  <a:rPr lang="en-US" sz="1400" dirty="0">
                    <a:solidFill>
                      <a:srgbClr val="F4BB00"/>
                    </a:solidFill>
                  </a:rPr>
                  <a:t>Token-level entropy gating is a method that calculates Shannon entropy at each token to identify key decision points in memory decision</a:t>
                </a:r>
              </a:p>
              <a:p>
                <a:pPr marL="742950" lvl="1" indent="-28575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Ø"/>
                </a:pPr>
                <a:r>
                  <a:rPr lang="en-US" sz="1400" dirty="0">
                    <a:solidFill>
                      <a:srgbClr val="F4BB00"/>
                    </a:solidFill>
                  </a:rPr>
                  <a:t>Memory usefulness = uncertainty reduction</a:t>
                </a:r>
              </a:p>
              <a:p>
                <a:pPr marL="742950" lvl="1" indent="-28575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Ø"/>
                </a:pPr>
                <a:r>
                  <a:rPr lang="en-US" sz="1400" dirty="0">
                    <a:solidFill>
                      <a:srgbClr val="F4BB00"/>
                    </a:solidFill>
                  </a:rPr>
                  <a:t>Not just semantic similarity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200" b="0" i="0" strike="noStrike" cap="none" normalizeH="0" baseline="0" dirty="0">
                  <a:ln>
                    <a:noFill/>
                  </a:ln>
                  <a:solidFill>
                    <a:srgbClr val="F4BB00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45" name="Google Shape;445;p4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437936" y="1287756"/>
                <a:ext cx="6120151" cy="3504269"/>
              </a:xfrm>
              <a:prstGeom prst="rect">
                <a:avLst/>
              </a:prstGeom>
              <a:blipFill>
                <a:blip r:embed="rId3"/>
                <a:stretch>
                  <a:fillRect l="-199" r="-2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BFFC6D3-91AF-FE12-03B0-8EBFC77C8D6B}"/>
              </a:ext>
            </a:extLst>
          </p:cNvPr>
          <p:cNvSpPr txBox="1"/>
          <p:nvPr/>
        </p:nvSpPr>
        <p:spPr>
          <a:xfrm>
            <a:off x="99064" y="4792025"/>
            <a:ext cx="5661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4BB00"/>
                </a:solidFill>
                <a:latin typeface="Aptos" panose="020B0004020202020204" pitchFamily="34" charset="0"/>
              </a:rPr>
              <a:t>Artificial Intelligence &amp; Data Science – ADD 416 (Project Phase 2)</a:t>
            </a:r>
            <a:endParaRPr lang="en-IN" sz="1200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C1B063-BD18-6338-1D20-746047CB88B9}"/>
              </a:ext>
            </a:extLst>
          </p:cNvPr>
          <p:cNvSpPr txBox="1"/>
          <p:nvPr/>
        </p:nvSpPr>
        <p:spPr>
          <a:xfrm>
            <a:off x="7117084" y="4752438"/>
            <a:ext cx="1501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05/02/2026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401A84-5D66-2366-972A-E8A51AD69CBD}"/>
              </a:ext>
            </a:extLst>
          </p:cNvPr>
          <p:cNvSpPr txBox="1"/>
          <p:nvPr/>
        </p:nvSpPr>
        <p:spPr>
          <a:xfrm>
            <a:off x="8686804" y="4753777"/>
            <a:ext cx="426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15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4BB00"/>
                </a:solidFill>
              </a:rPr>
              <a:t>THEORY OF EVALUATION</a:t>
            </a:r>
            <a:endParaRPr dirty="0">
              <a:solidFill>
                <a:srgbClr val="F4BB00"/>
              </a:solidFill>
            </a:endParaRPr>
          </a:p>
        </p:txBody>
      </p:sp>
      <p:sp>
        <p:nvSpPr>
          <p:cNvPr id="445" name="Google Shape;445;p45"/>
          <p:cNvSpPr txBox="1">
            <a:spLocks noGrp="1"/>
          </p:cNvSpPr>
          <p:nvPr>
            <p:ph type="subTitle" idx="1"/>
          </p:nvPr>
        </p:nvSpPr>
        <p:spPr>
          <a:xfrm>
            <a:off x="1938000" y="1571849"/>
            <a:ext cx="5268000" cy="2762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rgbClr val="F4BB00"/>
                </a:solidFill>
                <a:effectLst/>
                <a:latin typeface="Arial" panose="020B0604020202020204" pitchFamily="34" charset="0"/>
              </a:rPr>
              <a:t>Here, the cost of a single inference attempt, Cm(p), is defined as: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200" i="0" strike="noStrike" cap="none" normalizeH="0" baseline="0" dirty="0">
              <a:ln>
                <a:noFill/>
              </a:ln>
              <a:solidFill>
                <a:srgbClr val="F4BB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rgbClr val="F4BB00"/>
                </a:solidFill>
                <a:latin typeface="Arial" panose="020B0604020202020204" pitchFamily="34" charset="0"/>
              </a:rPr>
              <a:t>  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F4BB00"/>
                </a:solidFill>
                <a:effectLst/>
                <a:latin typeface="Arial" panose="020B0604020202020204" pitchFamily="34" charset="0"/>
              </a:rPr>
              <a:t>Cₘ(p) =  nᵢₙ(</a:t>
            </a: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F4BB00"/>
                </a:solidFill>
                <a:effectLst/>
                <a:latin typeface="Arial" panose="020B0604020202020204" pitchFamily="34" charset="0"/>
              </a:rPr>
              <a:t>m,p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F4BB00"/>
                </a:solidFill>
                <a:effectLst/>
                <a:latin typeface="Arial" panose="020B0604020202020204" pitchFamily="34" charset="0"/>
              </a:rPr>
              <a:t>) .  cᵢₙ(m) + nₒᵤₜ(</a:t>
            </a: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F4BB00"/>
                </a:solidFill>
                <a:effectLst/>
                <a:latin typeface="Arial" panose="020B0604020202020204" pitchFamily="34" charset="0"/>
              </a:rPr>
              <a:t>m,p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F4BB00"/>
                </a:solidFill>
                <a:effectLst/>
                <a:latin typeface="Arial" panose="020B0604020202020204" pitchFamily="34" charset="0"/>
              </a:rPr>
              <a:t>) . cₒᵤₜ(m)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solidFill>
                <a:srgbClr val="F4BB00"/>
              </a:solidFill>
              <a:latin typeface="Arial" panose="020B0604020202020204" pitchFamily="34" charset="0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rgbClr val="F4BB00"/>
                </a:solidFill>
                <a:effectLst/>
                <a:latin typeface="Arial" panose="020B0604020202020204" pitchFamily="34" charset="0"/>
              </a:rPr>
              <a:t>where </a:t>
            </a:r>
            <a:r>
              <a:rPr kumimoji="0" lang="en-US" altLang="en-US" sz="1200" i="0" strike="noStrike" cap="none" normalizeH="0" baseline="0" dirty="0" err="1">
                <a:ln>
                  <a:noFill/>
                </a:ln>
                <a:solidFill>
                  <a:srgbClr val="F4BB00"/>
                </a:solidFill>
                <a:effectLst/>
                <a:latin typeface="Arial" panose="020B0604020202020204" pitchFamily="34" charset="0"/>
              </a:rPr>
              <a:t>nin</a:t>
            </a: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rgbClr val="F4BB00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200" i="0" strike="noStrike" cap="none" normalizeH="0" baseline="0" dirty="0" err="1">
                <a:ln>
                  <a:noFill/>
                </a:ln>
                <a:solidFill>
                  <a:srgbClr val="F4BB00"/>
                </a:solidFill>
                <a:effectLst/>
                <a:latin typeface="Arial" panose="020B0604020202020204" pitchFamily="34" charset="0"/>
              </a:rPr>
              <a:t>m,p</a:t>
            </a: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rgbClr val="F4BB00"/>
                </a:solidFill>
                <a:effectLst/>
                <a:latin typeface="Arial" panose="020B0604020202020204" pitchFamily="34" charset="0"/>
              </a:rPr>
              <a:t>) and </a:t>
            </a:r>
            <a:r>
              <a:rPr kumimoji="0" lang="en-US" altLang="en-US" sz="1200" i="0" strike="noStrike" cap="none" normalizeH="0" baseline="0" dirty="0" err="1">
                <a:ln>
                  <a:noFill/>
                </a:ln>
                <a:solidFill>
                  <a:srgbClr val="F4BB00"/>
                </a:solidFill>
                <a:effectLst/>
                <a:latin typeface="Arial" panose="020B0604020202020204" pitchFamily="34" charset="0"/>
              </a:rPr>
              <a:t>nout</a:t>
            </a: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rgbClr val="F4BB00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200" i="0" strike="noStrike" cap="none" normalizeH="0" baseline="0" dirty="0" err="1">
                <a:ln>
                  <a:noFill/>
                </a:ln>
                <a:solidFill>
                  <a:srgbClr val="F4BB00"/>
                </a:solidFill>
                <a:effectLst/>
                <a:latin typeface="Arial" panose="020B0604020202020204" pitchFamily="34" charset="0"/>
              </a:rPr>
              <a:t>m,p</a:t>
            </a: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rgbClr val="F4BB00"/>
                </a:solidFill>
                <a:effectLst/>
                <a:latin typeface="Arial" panose="020B0604020202020204" pitchFamily="34" charset="0"/>
              </a:rPr>
              <a:t>) are the number of input and output tokens for model m on problem p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200" i="0" strike="noStrike" cap="none" normalizeH="0" baseline="0" dirty="0">
              <a:ln>
                <a:noFill/>
              </a:ln>
              <a:solidFill>
                <a:srgbClr val="F4BB00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i="0" strike="noStrike" cap="none" normalizeH="0" baseline="0" dirty="0" err="1">
                <a:ln>
                  <a:noFill/>
                </a:ln>
                <a:solidFill>
                  <a:srgbClr val="F4BB00"/>
                </a:solidFill>
                <a:effectLst/>
                <a:latin typeface="Arial" panose="020B0604020202020204" pitchFamily="34" charset="0"/>
              </a:rPr>
              <a:t>cin</a:t>
            </a: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rgbClr val="F4BB00"/>
                </a:solidFill>
                <a:effectLst/>
                <a:latin typeface="Arial" panose="020B0604020202020204" pitchFamily="34" charset="0"/>
              </a:rPr>
              <a:t>(m) and </a:t>
            </a:r>
            <a:r>
              <a:rPr kumimoji="0" lang="en-US" altLang="en-US" sz="1200" i="0" strike="noStrike" cap="none" normalizeH="0" baseline="0" dirty="0" err="1">
                <a:ln>
                  <a:noFill/>
                </a:ln>
                <a:solidFill>
                  <a:srgbClr val="F4BB00"/>
                </a:solidFill>
                <a:effectLst/>
                <a:latin typeface="Arial" panose="020B0604020202020204" pitchFamily="34" charset="0"/>
              </a:rPr>
              <a:t>cout</a:t>
            </a: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rgbClr val="F4BB00"/>
                </a:solidFill>
                <a:effectLst/>
                <a:latin typeface="Arial" panose="020B0604020202020204" pitchFamily="34" charset="0"/>
              </a:rPr>
              <a:t>(m) are the per-token costs for input and output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A24D38-5242-79F2-AEBC-D17C847B32E5}"/>
              </a:ext>
            </a:extLst>
          </p:cNvPr>
          <p:cNvSpPr txBox="1"/>
          <p:nvPr/>
        </p:nvSpPr>
        <p:spPr>
          <a:xfrm>
            <a:off x="99064" y="4792025"/>
            <a:ext cx="5661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4BB00"/>
                </a:solidFill>
                <a:latin typeface="Aptos" panose="020B0004020202020204" pitchFamily="34" charset="0"/>
              </a:rPr>
              <a:t>Artificial Intelligence &amp; Data Science – ADD 416 (Project Phase 2)</a:t>
            </a:r>
            <a:endParaRPr lang="en-IN" sz="1200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3AA236-D0FF-6740-615E-E4CACC8828FB}"/>
              </a:ext>
            </a:extLst>
          </p:cNvPr>
          <p:cNvSpPr txBox="1"/>
          <p:nvPr/>
        </p:nvSpPr>
        <p:spPr>
          <a:xfrm>
            <a:off x="7117084" y="4752438"/>
            <a:ext cx="1501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05/02/2026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90973F-DE4F-45DA-8A10-59656C6E99BE}"/>
              </a:ext>
            </a:extLst>
          </p:cNvPr>
          <p:cNvSpPr txBox="1"/>
          <p:nvPr/>
        </p:nvSpPr>
        <p:spPr>
          <a:xfrm>
            <a:off x="8686804" y="4753777"/>
            <a:ext cx="426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16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544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0"/>
          <p:cNvSpPr txBox="1">
            <a:spLocks noGrp="1"/>
          </p:cNvSpPr>
          <p:nvPr>
            <p:ph type="subTitle" idx="1"/>
          </p:nvPr>
        </p:nvSpPr>
        <p:spPr>
          <a:xfrm>
            <a:off x="2005013" y="1532925"/>
            <a:ext cx="2231716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F4BB00"/>
                </a:solidFill>
              </a:rPr>
              <a:t>INPUT TOKENS</a:t>
            </a:r>
          </a:p>
        </p:txBody>
      </p:sp>
      <p:sp>
        <p:nvSpPr>
          <p:cNvPr id="492" name="Google Shape;492;p50"/>
          <p:cNvSpPr txBox="1">
            <a:spLocks noGrp="1"/>
          </p:cNvSpPr>
          <p:nvPr>
            <p:ph type="subTitle" idx="2"/>
          </p:nvPr>
        </p:nvSpPr>
        <p:spPr>
          <a:xfrm>
            <a:off x="2347912" y="2017725"/>
            <a:ext cx="188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4BB00"/>
                </a:solidFill>
              </a:rPr>
              <a:t>Tokens in the gated prompt</a:t>
            </a:r>
          </a:p>
        </p:txBody>
      </p:sp>
      <p:sp>
        <p:nvSpPr>
          <p:cNvPr id="493" name="Google Shape;493;p50"/>
          <p:cNvSpPr txBox="1">
            <a:spLocks noGrp="1"/>
          </p:cNvSpPr>
          <p:nvPr>
            <p:ph type="subTitle" idx="3"/>
          </p:nvPr>
        </p:nvSpPr>
        <p:spPr>
          <a:xfrm>
            <a:off x="4907276" y="2017725"/>
            <a:ext cx="200514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4BB00"/>
                </a:solidFill>
              </a:rPr>
              <a:t>Total time taken for the model to return an answer</a:t>
            </a:r>
          </a:p>
        </p:txBody>
      </p:sp>
      <p:sp>
        <p:nvSpPr>
          <p:cNvPr id="494" name="Google Shape;494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4BB00"/>
                </a:solidFill>
              </a:rPr>
              <a:t>EVALUATION CRITERIA</a:t>
            </a:r>
            <a:endParaRPr dirty="0">
              <a:solidFill>
                <a:srgbClr val="F4BB00"/>
              </a:solidFill>
            </a:endParaRPr>
          </a:p>
        </p:txBody>
      </p:sp>
      <p:sp>
        <p:nvSpPr>
          <p:cNvPr id="495" name="Google Shape;495;p50"/>
          <p:cNvSpPr txBox="1">
            <a:spLocks noGrp="1"/>
          </p:cNvSpPr>
          <p:nvPr>
            <p:ph type="subTitle" idx="6"/>
          </p:nvPr>
        </p:nvSpPr>
        <p:spPr>
          <a:xfrm>
            <a:off x="1909763" y="2922850"/>
            <a:ext cx="2326966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F4BB00"/>
                </a:solidFill>
              </a:rPr>
              <a:t>OUTPUT TOKENS</a:t>
            </a:r>
          </a:p>
        </p:txBody>
      </p:sp>
      <p:sp>
        <p:nvSpPr>
          <p:cNvPr id="496" name="Google Shape;496;p50"/>
          <p:cNvSpPr txBox="1">
            <a:spLocks noGrp="1"/>
          </p:cNvSpPr>
          <p:nvPr>
            <p:ph type="subTitle" idx="4"/>
          </p:nvPr>
        </p:nvSpPr>
        <p:spPr>
          <a:xfrm>
            <a:off x="2231572" y="3407650"/>
            <a:ext cx="200514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solidFill>
                  <a:srgbClr val="F4BB00"/>
                </a:solidFill>
              </a:rPr>
              <a:t>Tokens generated by the model</a:t>
            </a:r>
          </a:p>
        </p:txBody>
      </p:sp>
      <p:sp>
        <p:nvSpPr>
          <p:cNvPr id="497" name="Google Shape;497;p50"/>
          <p:cNvSpPr txBox="1">
            <a:spLocks noGrp="1"/>
          </p:cNvSpPr>
          <p:nvPr>
            <p:ph type="subTitle" idx="5"/>
          </p:nvPr>
        </p:nvSpPr>
        <p:spPr>
          <a:xfrm>
            <a:off x="4907283" y="3407650"/>
            <a:ext cx="200514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4BB00"/>
                </a:solidFill>
              </a:rPr>
              <a:t>Throughput metric of tokens processed per second; higher means more efficient.</a:t>
            </a:r>
          </a:p>
        </p:txBody>
      </p:sp>
      <p:sp>
        <p:nvSpPr>
          <p:cNvPr id="498" name="Google Shape;498;p50"/>
          <p:cNvSpPr txBox="1">
            <a:spLocks noGrp="1"/>
          </p:cNvSpPr>
          <p:nvPr>
            <p:ph type="subTitle" idx="7"/>
          </p:nvPr>
        </p:nvSpPr>
        <p:spPr>
          <a:xfrm>
            <a:off x="4907291" y="1532925"/>
            <a:ext cx="18888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F4BB00"/>
                </a:solidFill>
              </a:rPr>
              <a:t>TIME (S)</a:t>
            </a:r>
          </a:p>
        </p:txBody>
      </p:sp>
      <p:sp>
        <p:nvSpPr>
          <p:cNvPr id="499" name="Google Shape;499;p50"/>
          <p:cNvSpPr txBox="1">
            <a:spLocks noGrp="1"/>
          </p:cNvSpPr>
          <p:nvPr>
            <p:ph type="subTitle" idx="8"/>
          </p:nvPr>
        </p:nvSpPr>
        <p:spPr>
          <a:xfrm>
            <a:off x="4907290" y="2922850"/>
            <a:ext cx="286511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>
                <a:solidFill>
                  <a:srgbClr val="F4BB00"/>
                </a:solidFill>
              </a:rPr>
              <a:t>TOKENS PER SECOND (TPS)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0B5C80-BA94-9413-BBEF-15D8B03979F0}"/>
              </a:ext>
            </a:extLst>
          </p:cNvPr>
          <p:cNvSpPr txBox="1"/>
          <p:nvPr/>
        </p:nvSpPr>
        <p:spPr>
          <a:xfrm>
            <a:off x="99064" y="4792025"/>
            <a:ext cx="5661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4BB00"/>
                </a:solidFill>
                <a:latin typeface="Aptos" panose="020B0004020202020204" pitchFamily="34" charset="0"/>
              </a:rPr>
              <a:t>Artificial Intelligence &amp; Data Science – ADD 416 (Project Phase 2)</a:t>
            </a:r>
            <a:endParaRPr lang="en-IN" sz="1200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2D4C91-A6DC-9F88-046E-E1C2C2D4BB21}"/>
              </a:ext>
            </a:extLst>
          </p:cNvPr>
          <p:cNvSpPr txBox="1"/>
          <p:nvPr/>
        </p:nvSpPr>
        <p:spPr>
          <a:xfrm>
            <a:off x="7117084" y="4752438"/>
            <a:ext cx="1501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05/02/2026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1D1812-06EB-AA25-4159-4185F0B79FDE}"/>
              </a:ext>
            </a:extLst>
          </p:cNvPr>
          <p:cNvSpPr txBox="1"/>
          <p:nvPr/>
        </p:nvSpPr>
        <p:spPr>
          <a:xfrm>
            <a:off x="8686804" y="4753777"/>
            <a:ext cx="426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17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8127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0"/>
          <p:cNvSpPr txBox="1">
            <a:spLocks noGrp="1"/>
          </p:cNvSpPr>
          <p:nvPr>
            <p:ph type="subTitle" idx="1"/>
          </p:nvPr>
        </p:nvSpPr>
        <p:spPr>
          <a:xfrm>
            <a:off x="2005013" y="1532925"/>
            <a:ext cx="2231716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F4BB00"/>
                </a:solidFill>
              </a:rPr>
              <a:t>EFFICIENCY GAINS</a:t>
            </a:r>
          </a:p>
        </p:txBody>
      </p:sp>
      <p:sp>
        <p:nvSpPr>
          <p:cNvPr id="492" name="Google Shape;492;p50"/>
          <p:cNvSpPr txBox="1">
            <a:spLocks noGrp="1"/>
          </p:cNvSpPr>
          <p:nvPr>
            <p:ph type="subTitle" idx="2"/>
          </p:nvPr>
        </p:nvSpPr>
        <p:spPr>
          <a:xfrm>
            <a:off x="2347912" y="2017725"/>
            <a:ext cx="188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4BB00"/>
                </a:solidFill>
              </a:rPr>
              <a:t>Reduced prompt size and lower inference cost</a:t>
            </a:r>
          </a:p>
        </p:txBody>
      </p:sp>
      <p:sp>
        <p:nvSpPr>
          <p:cNvPr id="493" name="Google Shape;493;p50"/>
          <p:cNvSpPr txBox="1">
            <a:spLocks noGrp="1"/>
          </p:cNvSpPr>
          <p:nvPr>
            <p:ph type="subTitle" idx="3"/>
          </p:nvPr>
        </p:nvSpPr>
        <p:spPr>
          <a:xfrm>
            <a:off x="4907276" y="2017725"/>
            <a:ext cx="200514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4BB00"/>
                </a:solidFill>
              </a:rPr>
              <a:t>Fast, relevant outputs via adaptive memory controller</a:t>
            </a:r>
          </a:p>
        </p:txBody>
      </p:sp>
      <p:sp>
        <p:nvSpPr>
          <p:cNvPr id="494" name="Google Shape;494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F4BB00"/>
                </a:solidFill>
              </a:rPr>
              <a:t>EXPECTED OUTCOME</a:t>
            </a:r>
          </a:p>
        </p:txBody>
      </p:sp>
      <p:sp>
        <p:nvSpPr>
          <p:cNvPr id="495" name="Google Shape;495;p50"/>
          <p:cNvSpPr txBox="1">
            <a:spLocks noGrp="1"/>
          </p:cNvSpPr>
          <p:nvPr>
            <p:ph type="subTitle" idx="6"/>
          </p:nvPr>
        </p:nvSpPr>
        <p:spPr>
          <a:xfrm>
            <a:off x="1909763" y="2922850"/>
            <a:ext cx="2326966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F4BB00"/>
                </a:solidFill>
              </a:rPr>
              <a:t>PERFORMANCE MONITORING</a:t>
            </a:r>
          </a:p>
        </p:txBody>
      </p:sp>
      <p:sp>
        <p:nvSpPr>
          <p:cNvPr id="496" name="Google Shape;496;p50"/>
          <p:cNvSpPr txBox="1">
            <a:spLocks noGrp="1"/>
          </p:cNvSpPr>
          <p:nvPr>
            <p:ph type="subTitle" idx="4"/>
          </p:nvPr>
        </p:nvSpPr>
        <p:spPr>
          <a:xfrm>
            <a:off x="2231572" y="3407650"/>
            <a:ext cx="200514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solidFill>
                  <a:srgbClr val="F4BB00"/>
                </a:solidFill>
              </a:rPr>
              <a:t>Dashboard visualizing token savings and latency</a:t>
            </a:r>
          </a:p>
        </p:txBody>
      </p:sp>
      <p:sp>
        <p:nvSpPr>
          <p:cNvPr id="497" name="Google Shape;497;p50"/>
          <p:cNvSpPr txBox="1">
            <a:spLocks noGrp="1"/>
          </p:cNvSpPr>
          <p:nvPr>
            <p:ph type="subTitle" idx="5"/>
          </p:nvPr>
        </p:nvSpPr>
        <p:spPr>
          <a:xfrm>
            <a:off x="4907283" y="3407650"/>
            <a:ext cx="200514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rgbClr val="F4BB00"/>
                </a:solidFill>
              </a:rPr>
              <a:t>Streamlit</a:t>
            </a:r>
            <a:r>
              <a:rPr lang="en-US" dirty="0">
                <a:solidFill>
                  <a:srgbClr val="F4BB00"/>
                </a:solidFill>
              </a:rPr>
              <a:t> demo interface and publishable research results</a:t>
            </a:r>
          </a:p>
        </p:txBody>
      </p:sp>
      <p:sp>
        <p:nvSpPr>
          <p:cNvPr id="498" name="Google Shape;498;p50"/>
          <p:cNvSpPr txBox="1">
            <a:spLocks noGrp="1"/>
          </p:cNvSpPr>
          <p:nvPr>
            <p:ph type="subTitle" idx="7"/>
          </p:nvPr>
        </p:nvSpPr>
        <p:spPr>
          <a:xfrm>
            <a:off x="4907291" y="1532925"/>
            <a:ext cx="2412672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F4BB00"/>
                </a:solidFill>
              </a:rPr>
              <a:t>INTELLIGENT RESPONSIVENESS</a:t>
            </a:r>
          </a:p>
        </p:txBody>
      </p:sp>
      <p:sp>
        <p:nvSpPr>
          <p:cNvPr id="499" name="Google Shape;499;p50"/>
          <p:cNvSpPr txBox="1">
            <a:spLocks noGrp="1"/>
          </p:cNvSpPr>
          <p:nvPr>
            <p:ph type="subTitle" idx="8"/>
          </p:nvPr>
        </p:nvSpPr>
        <p:spPr>
          <a:xfrm>
            <a:off x="4907290" y="2922850"/>
            <a:ext cx="286511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F4BB00"/>
                </a:solidFill>
              </a:rPr>
              <a:t>DEPLOYMENT &amp; RESEARCH VALUE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0B7B96-DA91-F4D6-D857-E496EAEB8D6B}"/>
              </a:ext>
            </a:extLst>
          </p:cNvPr>
          <p:cNvSpPr txBox="1"/>
          <p:nvPr/>
        </p:nvSpPr>
        <p:spPr>
          <a:xfrm>
            <a:off x="99064" y="4792025"/>
            <a:ext cx="5661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4BB00"/>
                </a:solidFill>
                <a:latin typeface="Aptos" panose="020B0004020202020204" pitchFamily="34" charset="0"/>
              </a:rPr>
              <a:t>Artificial Intelligence &amp; Data Science – ADD 416 (Project Phase 2)</a:t>
            </a:r>
            <a:endParaRPr lang="en-IN" sz="1200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22D9D2-EF82-2EA7-F23D-259E0C8646F9}"/>
              </a:ext>
            </a:extLst>
          </p:cNvPr>
          <p:cNvSpPr txBox="1"/>
          <p:nvPr/>
        </p:nvSpPr>
        <p:spPr>
          <a:xfrm>
            <a:off x="7117084" y="4752438"/>
            <a:ext cx="1501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05/02/2026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7EE2DA-16ED-B8A1-2B60-98F61F7B14DB}"/>
              </a:ext>
            </a:extLst>
          </p:cNvPr>
          <p:cNvSpPr txBox="1"/>
          <p:nvPr/>
        </p:nvSpPr>
        <p:spPr>
          <a:xfrm>
            <a:off x="8686804" y="4753777"/>
            <a:ext cx="426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18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473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0"/>
          <p:cNvSpPr txBox="1">
            <a:spLocks noGrp="1"/>
          </p:cNvSpPr>
          <p:nvPr>
            <p:ph type="title"/>
          </p:nvPr>
        </p:nvSpPr>
        <p:spPr>
          <a:xfrm>
            <a:off x="720000" y="25452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F4BB00"/>
                </a:solidFill>
              </a:rPr>
              <a:t>RESULT AND DISCUSSION</a:t>
            </a:r>
          </a:p>
        </p:txBody>
      </p:sp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21A56C-DC57-E8B0-4778-65D6EE114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50" y="965406"/>
            <a:ext cx="7639050" cy="360945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768F9A4-BEB5-F86A-AE37-46C8F9CB410C}"/>
              </a:ext>
            </a:extLst>
          </p:cNvPr>
          <p:cNvSpPr txBox="1"/>
          <p:nvPr/>
        </p:nvSpPr>
        <p:spPr>
          <a:xfrm>
            <a:off x="99064" y="4792025"/>
            <a:ext cx="5661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4BB00"/>
                </a:solidFill>
                <a:latin typeface="Aptos" panose="020B0004020202020204" pitchFamily="34" charset="0"/>
              </a:rPr>
              <a:t>Artificial Intelligence &amp; Data Science – ADD 416 (Project Phase 2)</a:t>
            </a:r>
            <a:endParaRPr lang="en-IN" sz="1200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F0271A-D3C9-8DC3-6A00-D879C857641E}"/>
              </a:ext>
            </a:extLst>
          </p:cNvPr>
          <p:cNvSpPr txBox="1"/>
          <p:nvPr/>
        </p:nvSpPr>
        <p:spPr>
          <a:xfrm>
            <a:off x="7117084" y="4752438"/>
            <a:ext cx="1501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05/02/2026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26D3F0-9189-1A5A-CD1F-8E79A795C283}"/>
              </a:ext>
            </a:extLst>
          </p:cNvPr>
          <p:cNvSpPr txBox="1"/>
          <p:nvPr/>
        </p:nvSpPr>
        <p:spPr>
          <a:xfrm>
            <a:off x="8686804" y="4753777"/>
            <a:ext cx="426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19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059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0"/>
          <p:cNvSpPr txBox="1">
            <a:spLocks noGrp="1"/>
          </p:cNvSpPr>
          <p:nvPr>
            <p:ph type="title"/>
          </p:nvPr>
        </p:nvSpPr>
        <p:spPr>
          <a:xfrm>
            <a:off x="720000" y="25452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F4BB00"/>
                </a:solidFill>
              </a:rPr>
              <a:t>RESULT AND DISCUSSION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8644AED-F48D-21A9-78F6-3D310323D6AD}"/>
              </a:ext>
            </a:extLst>
          </p:cNvPr>
          <p:cNvSpPr/>
          <p:nvPr/>
        </p:nvSpPr>
        <p:spPr>
          <a:xfrm>
            <a:off x="381000" y="920126"/>
            <a:ext cx="3257550" cy="242887"/>
          </a:xfrm>
          <a:prstGeom prst="roundRect">
            <a:avLst/>
          </a:prstGeom>
          <a:solidFill>
            <a:srgbClr val="7F04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u="sng" dirty="0">
                <a:solidFill>
                  <a:srgbClr val="F4BB00"/>
                </a:solidFill>
              </a:rPr>
              <a:t>User Prompt</a:t>
            </a:r>
            <a:r>
              <a:rPr lang="en-IN" sz="1200" dirty="0">
                <a:solidFill>
                  <a:srgbClr val="F4BB00"/>
                </a:solidFill>
              </a:rPr>
              <a:t>: How to manage stress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ACE24C5-005C-5359-F446-8A5B2606F7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452952"/>
              </p:ext>
            </p:extLst>
          </p:nvPr>
        </p:nvGraphicFramePr>
        <p:xfrm>
          <a:off x="1481138" y="1586282"/>
          <a:ext cx="6096000" cy="2595880"/>
        </p:xfrm>
        <a:graphic>
          <a:graphicData uri="http://schemas.openxmlformats.org/drawingml/2006/table">
            <a:tbl>
              <a:tblPr firstRow="1" bandRow="1">
                <a:tableStyleId>{AFCF28DC-DEE4-481E-A94D-893439FE2D8F}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58773812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2364228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56427982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218321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accent6"/>
                          </a:solidFill>
                        </a:rPr>
                        <a:t>Parameters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accent6"/>
                          </a:solidFill>
                        </a:rPr>
                        <a:t>Non-Gating LLM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accent6"/>
                          </a:solidFill>
                        </a:rPr>
                        <a:t>Gating LLM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accent6"/>
                          </a:solidFill>
                        </a:rPr>
                        <a:t>Improvement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2474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accent6"/>
                          </a:solidFill>
                        </a:rPr>
                        <a:t>Prompt tokens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accent6"/>
                          </a:solidFill>
                        </a:rPr>
                        <a:t>647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accent6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accent6"/>
                          </a:solidFill>
                        </a:rPr>
                        <a:t>↓ 99.38%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0960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accent6"/>
                          </a:solidFill>
                        </a:rPr>
                        <a:t>Completion tokens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accent6"/>
                          </a:solidFill>
                        </a:rPr>
                        <a:t>436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accent6"/>
                          </a:solidFill>
                        </a:rPr>
                        <a:t>345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accent6"/>
                          </a:solidFill>
                        </a:rPr>
                        <a:t>↓ 20.87%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2741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accent6"/>
                          </a:solidFill>
                        </a:rPr>
                        <a:t>Total Time (in sec)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accent6"/>
                          </a:solidFill>
                        </a:rPr>
                        <a:t>13.9055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accent6"/>
                          </a:solidFill>
                        </a:rPr>
                        <a:t>7.4608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accent6"/>
                          </a:solidFill>
                        </a:rPr>
                        <a:t>46.35% faster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4755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accent6"/>
                          </a:solidFill>
                        </a:rPr>
                        <a:t>Tokens per second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accent6"/>
                          </a:solidFill>
                        </a:rPr>
                        <a:t>31.3544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accent6"/>
                          </a:solidFill>
                        </a:rPr>
                        <a:t>46.2415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accent6"/>
                          </a:solidFill>
                        </a:rPr>
                        <a:t>↑ 47.47%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2772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accent6"/>
                          </a:solidFill>
                        </a:rPr>
                        <a:t>Hypothetical cost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accent6"/>
                          </a:solidFill>
                        </a:rPr>
                        <a:t>0.0006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accent6"/>
                          </a:solidFill>
                        </a:rPr>
                        <a:t>0.0003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accent6"/>
                          </a:solidFill>
                        </a:rPr>
                        <a:t>↓ 50%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4130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accent6"/>
                          </a:solidFill>
                        </a:rPr>
                        <a:t>Cost of pass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accent6"/>
                          </a:solidFill>
                        </a:rPr>
                        <a:t>0.0006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accent6"/>
                          </a:solidFill>
                        </a:rPr>
                        <a:t>0.0003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accent6"/>
                          </a:solidFill>
                        </a:rPr>
                        <a:t>↓ 50%</a:t>
                      </a:r>
                    </a:p>
                  </a:txBody>
                  <a:tcPr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060029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3AA8BE7-DC24-2B6B-B75C-266D916FF50F}"/>
              </a:ext>
            </a:extLst>
          </p:cNvPr>
          <p:cNvSpPr txBox="1"/>
          <p:nvPr/>
        </p:nvSpPr>
        <p:spPr>
          <a:xfrm>
            <a:off x="99064" y="4792025"/>
            <a:ext cx="5661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4BB00"/>
                </a:solidFill>
                <a:latin typeface="Aptos" panose="020B0004020202020204" pitchFamily="34" charset="0"/>
              </a:rPr>
              <a:t>Artificial Intelligence &amp; Data Science – ADD 416 (Project Phase 2)</a:t>
            </a:r>
            <a:endParaRPr lang="en-IN" sz="1200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684F6B-E687-DD32-29BA-F29EE4685562}"/>
              </a:ext>
            </a:extLst>
          </p:cNvPr>
          <p:cNvSpPr txBox="1"/>
          <p:nvPr/>
        </p:nvSpPr>
        <p:spPr>
          <a:xfrm>
            <a:off x="7117084" y="4752438"/>
            <a:ext cx="1501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05/02/2026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BD75B2-B341-9F25-A929-FDC5D2CA8522}"/>
              </a:ext>
            </a:extLst>
          </p:cNvPr>
          <p:cNvSpPr txBox="1"/>
          <p:nvPr/>
        </p:nvSpPr>
        <p:spPr>
          <a:xfrm>
            <a:off x="8686804" y="4753777"/>
            <a:ext cx="426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20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539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F4BB00"/>
                </a:solidFill>
              </a:rPr>
              <a:t>CONCLUSION</a:t>
            </a:r>
            <a:endParaRPr sz="2800" dirty="0">
              <a:solidFill>
                <a:srgbClr val="F4BB00"/>
              </a:solidFill>
            </a:endParaRPr>
          </a:p>
        </p:txBody>
      </p:sp>
      <p:sp>
        <p:nvSpPr>
          <p:cNvPr id="2" name="Google Shape;643;p64">
            <a:extLst>
              <a:ext uri="{FF2B5EF4-FFF2-40B4-BE49-F238E27FC236}">
                <a16:creationId xmlns:a16="http://schemas.microsoft.com/office/drawing/2014/main" id="{29113444-F5BF-7826-B5E3-43182F33B58B}"/>
              </a:ext>
            </a:extLst>
          </p:cNvPr>
          <p:cNvSpPr txBox="1">
            <a:spLocks/>
          </p:cNvSpPr>
          <p:nvPr/>
        </p:nvSpPr>
        <p:spPr>
          <a:xfrm>
            <a:off x="634700" y="1110522"/>
            <a:ext cx="3980614" cy="2092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4BB00"/>
                </a:solidFill>
              </a:rPr>
              <a:t>Smart memory management for LLMs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4BB00"/>
                </a:solidFill>
              </a:rPr>
              <a:t>Injects only relevant context chunks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4BB00"/>
                </a:solidFill>
              </a:rPr>
              <a:t>Combines embeddings, attention, classifiers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4BB00"/>
                </a:solidFill>
              </a:rPr>
              <a:t>Reduces costs, improves response clarity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4BB00"/>
                </a:solidFill>
              </a:rPr>
              <a:t>Practical, research-worthy, and scalable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4BB00"/>
                </a:solidFill>
              </a:rPr>
              <a:t>Elevates LLM agents’ effectiveness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208DAE-93CB-1FE0-6EBD-11E106E5DD00}"/>
              </a:ext>
            </a:extLst>
          </p:cNvPr>
          <p:cNvSpPr txBox="1"/>
          <p:nvPr/>
        </p:nvSpPr>
        <p:spPr>
          <a:xfrm>
            <a:off x="99064" y="4792025"/>
            <a:ext cx="5661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4BB00"/>
                </a:solidFill>
                <a:latin typeface="Aptos" panose="020B0004020202020204" pitchFamily="34" charset="0"/>
              </a:rPr>
              <a:t>Artificial Intelligence &amp; Data Science – ADD 416 (Project Phase 2)</a:t>
            </a:r>
            <a:endParaRPr lang="en-IN" sz="1200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D2340D-0284-CFB2-5AFE-2B85BAE02DAB}"/>
              </a:ext>
            </a:extLst>
          </p:cNvPr>
          <p:cNvSpPr txBox="1"/>
          <p:nvPr/>
        </p:nvSpPr>
        <p:spPr>
          <a:xfrm>
            <a:off x="7117084" y="4752438"/>
            <a:ext cx="1501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05/02/2026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005C13-1DEB-758D-D6E5-2C0A1DBEBB2E}"/>
              </a:ext>
            </a:extLst>
          </p:cNvPr>
          <p:cNvSpPr txBox="1"/>
          <p:nvPr/>
        </p:nvSpPr>
        <p:spPr>
          <a:xfrm>
            <a:off x="8686804" y="4753777"/>
            <a:ext cx="426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21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3905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>
          <a:extLst>
            <a:ext uri="{FF2B5EF4-FFF2-40B4-BE49-F238E27FC236}">
              <a16:creationId xmlns:a16="http://schemas.microsoft.com/office/drawing/2014/main" id="{2CB66C53-E691-7DD3-ECFD-6D1813AD8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1">
            <a:extLst>
              <a:ext uri="{FF2B5EF4-FFF2-40B4-BE49-F238E27FC236}">
                <a16:creationId xmlns:a16="http://schemas.microsoft.com/office/drawing/2014/main" id="{F3761E8A-C360-8BD9-FD7D-9F8FC11501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F4BB00"/>
                </a:solidFill>
              </a:rPr>
              <a:t>CHOSEN JOURNAL PAPER</a:t>
            </a:r>
            <a:endParaRPr sz="2800" dirty="0">
              <a:solidFill>
                <a:srgbClr val="F4BB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87F835-6E9C-727C-FF32-E0E79EF5EC99}"/>
              </a:ext>
            </a:extLst>
          </p:cNvPr>
          <p:cNvSpPr txBox="1"/>
          <p:nvPr/>
        </p:nvSpPr>
        <p:spPr>
          <a:xfrm>
            <a:off x="99064" y="4792025"/>
            <a:ext cx="5661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4BB00"/>
                </a:solidFill>
                <a:latin typeface="Aptos" panose="020B0004020202020204" pitchFamily="34" charset="0"/>
              </a:rPr>
              <a:t>Artificial Intelligence &amp; Data Science – ADD 416 (Project Phase 2)</a:t>
            </a:r>
            <a:endParaRPr lang="en-IN" sz="1200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59CC0D-AD93-FCD2-B675-02003F1D66F9}"/>
              </a:ext>
            </a:extLst>
          </p:cNvPr>
          <p:cNvSpPr txBox="1"/>
          <p:nvPr/>
        </p:nvSpPr>
        <p:spPr>
          <a:xfrm>
            <a:off x="7117084" y="4752438"/>
            <a:ext cx="1501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05/02/2026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735CF0-0123-FE93-DEE4-6A34342CCFE9}"/>
              </a:ext>
            </a:extLst>
          </p:cNvPr>
          <p:cNvSpPr txBox="1"/>
          <p:nvPr/>
        </p:nvSpPr>
        <p:spPr>
          <a:xfrm>
            <a:off x="8686804" y="4753777"/>
            <a:ext cx="426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22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30E521-9CC5-71C1-CC5C-218605F6C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25" y="1272415"/>
            <a:ext cx="8084700" cy="326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7928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F4BB00"/>
                </a:solidFill>
              </a:rPr>
              <a:t>REFERENCES</a:t>
            </a:r>
            <a:endParaRPr sz="2800" dirty="0">
              <a:solidFill>
                <a:srgbClr val="F4BB00"/>
              </a:solidFill>
            </a:endParaRPr>
          </a:p>
        </p:txBody>
      </p:sp>
      <p:sp>
        <p:nvSpPr>
          <p:cNvPr id="2" name="Google Shape;643;p64">
            <a:extLst>
              <a:ext uri="{FF2B5EF4-FFF2-40B4-BE49-F238E27FC236}">
                <a16:creationId xmlns:a16="http://schemas.microsoft.com/office/drawing/2014/main" id="{29113444-F5BF-7826-B5E3-43182F33B58B}"/>
              </a:ext>
            </a:extLst>
          </p:cNvPr>
          <p:cNvSpPr txBox="1">
            <a:spLocks/>
          </p:cNvSpPr>
          <p:nvPr/>
        </p:nvSpPr>
        <p:spPr>
          <a:xfrm>
            <a:off x="634699" y="1110522"/>
            <a:ext cx="7703999" cy="2092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285750" indent="-285750"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4BB00"/>
                </a:solidFill>
              </a:rPr>
              <a:t>Bo </a:t>
            </a:r>
            <a:r>
              <a:rPr lang="en-US" dirty="0" err="1">
                <a:solidFill>
                  <a:srgbClr val="F4BB00"/>
                </a:solidFill>
              </a:rPr>
              <a:t>Lv</a:t>
            </a:r>
            <a:r>
              <a:rPr lang="en-US" dirty="0">
                <a:solidFill>
                  <a:srgbClr val="F4BB00"/>
                </a:solidFill>
              </a:rPr>
              <a:t>, Quan Zhou, </a:t>
            </a:r>
            <a:r>
              <a:rPr lang="en-US" dirty="0" err="1">
                <a:solidFill>
                  <a:srgbClr val="F4BB00"/>
                </a:solidFill>
              </a:rPr>
              <a:t>Xuanang</a:t>
            </a:r>
            <a:r>
              <a:rPr lang="en-US" dirty="0">
                <a:solidFill>
                  <a:srgbClr val="F4BB00"/>
                </a:solidFill>
              </a:rPr>
              <a:t> Ding, Yan Wang &amp; </a:t>
            </a:r>
            <a:r>
              <a:rPr lang="en-US" dirty="0" err="1">
                <a:solidFill>
                  <a:srgbClr val="F4BB00"/>
                </a:solidFill>
              </a:rPr>
              <a:t>Zeming</a:t>
            </a:r>
            <a:r>
              <a:rPr lang="en-US" dirty="0">
                <a:solidFill>
                  <a:srgbClr val="F4BB00"/>
                </a:solidFill>
              </a:rPr>
              <a:t> Ma. </a:t>
            </a:r>
            <a:r>
              <a:rPr lang="en-US" dirty="0" err="1">
                <a:solidFill>
                  <a:srgbClr val="F4BB00"/>
                </a:solidFill>
              </a:rPr>
              <a:t>KVPruner</a:t>
            </a:r>
            <a:r>
              <a:rPr lang="en-US" dirty="0">
                <a:solidFill>
                  <a:srgbClr val="F4BB00"/>
                </a:solidFill>
              </a:rPr>
              <a:t>: Structural Pruning for Faster and Memory‑Efficient Large Language Models. </a:t>
            </a:r>
            <a:r>
              <a:rPr lang="en-US" dirty="0" err="1">
                <a:solidFill>
                  <a:srgbClr val="F4BB00"/>
                </a:solidFill>
              </a:rPr>
              <a:t>arXiv</a:t>
            </a:r>
            <a:r>
              <a:rPr lang="en-US" dirty="0">
                <a:solidFill>
                  <a:srgbClr val="F4BB00"/>
                </a:solidFill>
              </a:rPr>
              <a:t>, Sept 2024.</a:t>
            </a:r>
          </a:p>
          <a:p>
            <a:pPr marL="285750" indent="-285750"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rgbClr val="F4BB00"/>
                </a:solidFill>
              </a:rPr>
              <a:t>Dongjie</a:t>
            </a:r>
            <a:r>
              <a:rPr lang="en-US" dirty="0">
                <a:solidFill>
                  <a:srgbClr val="F4BB00"/>
                </a:solidFill>
              </a:rPr>
              <a:t> Yang, </a:t>
            </a:r>
            <a:r>
              <a:rPr lang="en-US" dirty="0" err="1">
                <a:solidFill>
                  <a:srgbClr val="F4BB00"/>
                </a:solidFill>
              </a:rPr>
              <a:t>Xiaodong</a:t>
            </a:r>
            <a:r>
              <a:rPr lang="en-US" dirty="0">
                <a:solidFill>
                  <a:srgbClr val="F4BB00"/>
                </a:solidFill>
              </a:rPr>
              <a:t> Han, Yan Gao, Yao Hu, </a:t>
            </a:r>
            <a:r>
              <a:rPr lang="en-US" dirty="0" err="1">
                <a:solidFill>
                  <a:srgbClr val="F4BB00"/>
                </a:solidFill>
              </a:rPr>
              <a:t>Shilin</a:t>
            </a:r>
            <a:r>
              <a:rPr lang="en-US" dirty="0">
                <a:solidFill>
                  <a:srgbClr val="F4BB00"/>
                </a:solidFill>
              </a:rPr>
              <a:t> Zhang &amp; Hai Zhao. </a:t>
            </a:r>
            <a:r>
              <a:rPr lang="en-US" dirty="0" err="1">
                <a:solidFill>
                  <a:srgbClr val="F4BB00"/>
                </a:solidFill>
              </a:rPr>
              <a:t>PyramidInfer</a:t>
            </a:r>
            <a:r>
              <a:rPr lang="en-US" dirty="0">
                <a:solidFill>
                  <a:srgbClr val="F4BB00"/>
                </a:solidFill>
              </a:rPr>
              <a:t>: Pyramid KV Cache Compression for High‑throughput LLM Inference. Findings of ACL 2024.</a:t>
            </a:r>
          </a:p>
          <a:p>
            <a:pPr marL="285750" indent="-285750"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rgbClr val="F4BB00"/>
                </a:solidFill>
              </a:rPr>
              <a:t>Zefan</a:t>
            </a:r>
            <a:r>
              <a:rPr lang="en-US" dirty="0">
                <a:solidFill>
                  <a:srgbClr val="F4BB00"/>
                </a:solidFill>
              </a:rPr>
              <a:t> Cai et al. </a:t>
            </a:r>
            <a:r>
              <a:rPr lang="en-US" dirty="0" err="1">
                <a:solidFill>
                  <a:srgbClr val="F4BB00"/>
                </a:solidFill>
              </a:rPr>
              <a:t>PyramidKV</a:t>
            </a:r>
            <a:r>
              <a:rPr lang="en-US" dirty="0">
                <a:solidFill>
                  <a:srgbClr val="F4BB00"/>
                </a:solidFill>
              </a:rPr>
              <a:t>: Dynamic KV Cache Compression based on Pyramidal Information Funneling. </a:t>
            </a:r>
            <a:r>
              <a:rPr lang="en-US" dirty="0" err="1">
                <a:solidFill>
                  <a:srgbClr val="F4BB00"/>
                </a:solidFill>
              </a:rPr>
              <a:t>arXiv</a:t>
            </a:r>
            <a:r>
              <a:rPr lang="en-US" dirty="0">
                <a:solidFill>
                  <a:srgbClr val="F4BB00"/>
                </a:solidFill>
              </a:rPr>
              <a:t>, June 2024.</a:t>
            </a:r>
          </a:p>
          <a:p>
            <a:pPr marL="285750" indent="-285750"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rgbClr val="F4BB00"/>
                </a:solidFill>
              </a:rPr>
              <a:t>Hanlin</a:t>
            </a:r>
            <a:r>
              <a:rPr lang="en-US" dirty="0">
                <a:solidFill>
                  <a:srgbClr val="F4BB00"/>
                </a:solidFill>
              </a:rPr>
              <a:t> Tang et al. </a:t>
            </a:r>
            <a:r>
              <a:rPr lang="en-US" dirty="0" err="1">
                <a:solidFill>
                  <a:srgbClr val="F4BB00"/>
                </a:solidFill>
              </a:rPr>
              <a:t>RazorAttention</a:t>
            </a:r>
            <a:r>
              <a:rPr lang="en-US" dirty="0">
                <a:solidFill>
                  <a:srgbClr val="F4BB00"/>
                </a:solidFill>
              </a:rPr>
              <a:t>: Efficient KV Cache Compression Through Retrieval Heads. </a:t>
            </a:r>
            <a:r>
              <a:rPr lang="en-US" dirty="0" err="1">
                <a:solidFill>
                  <a:srgbClr val="F4BB00"/>
                </a:solidFill>
              </a:rPr>
              <a:t>arXiv</a:t>
            </a:r>
            <a:r>
              <a:rPr lang="en-US" dirty="0">
                <a:solidFill>
                  <a:srgbClr val="F4BB00"/>
                </a:solidFill>
              </a:rPr>
              <a:t>, July 2024.</a:t>
            </a:r>
          </a:p>
          <a:p>
            <a:pPr marL="285750" indent="-285750"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rgbClr val="F4BB00"/>
                </a:solidFill>
              </a:rPr>
              <a:t>Zefan</a:t>
            </a:r>
            <a:r>
              <a:rPr lang="en-US" dirty="0">
                <a:solidFill>
                  <a:srgbClr val="F4BB00"/>
                </a:solidFill>
              </a:rPr>
              <a:t> Cai et al. R‑KV: Redundancy‑Aware KV Cache Compression for Training‑Free Reasoning Models Acceleration. </a:t>
            </a:r>
            <a:r>
              <a:rPr lang="en-US" dirty="0" err="1">
                <a:solidFill>
                  <a:srgbClr val="F4BB00"/>
                </a:solidFill>
              </a:rPr>
              <a:t>arXiv</a:t>
            </a:r>
            <a:r>
              <a:rPr lang="en-US" dirty="0">
                <a:solidFill>
                  <a:srgbClr val="F4BB00"/>
                </a:solidFill>
              </a:rPr>
              <a:t>, May 2025.</a:t>
            </a:r>
          </a:p>
          <a:p>
            <a:pPr marL="285750" indent="-285750"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4BB00"/>
                </a:solidFill>
              </a:rPr>
              <a:t>Agarwal et al. Cache‑Craft: Chunk‑Level KV Cache Reuse for Faster and Efficient RAG. SIGMOD 2025.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AD9A1-684F-752C-29D1-87678EC823EB}"/>
              </a:ext>
            </a:extLst>
          </p:cNvPr>
          <p:cNvSpPr txBox="1"/>
          <p:nvPr/>
        </p:nvSpPr>
        <p:spPr>
          <a:xfrm>
            <a:off x="99064" y="4792025"/>
            <a:ext cx="5661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4BB00"/>
                </a:solidFill>
                <a:latin typeface="Aptos" panose="020B0004020202020204" pitchFamily="34" charset="0"/>
              </a:rPr>
              <a:t>Artificial Intelligence &amp; Data Science – ADD 416 (Project Phase 2)</a:t>
            </a:r>
            <a:endParaRPr lang="en-IN" sz="1200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1E4921-BFEC-033B-7EA8-C5AF60E4061D}"/>
              </a:ext>
            </a:extLst>
          </p:cNvPr>
          <p:cNvSpPr txBox="1"/>
          <p:nvPr/>
        </p:nvSpPr>
        <p:spPr>
          <a:xfrm>
            <a:off x="7117084" y="4752438"/>
            <a:ext cx="1501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05/02/2026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B77FE3-44BF-B7E0-9F74-6B8EC8878A13}"/>
              </a:ext>
            </a:extLst>
          </p:cNvPr>
          <p:cNvSpPr txBox="1"/>
          <p:nvPr/>
        </p:nvSpPr>
        <p:spPr>
          <a:xfrm>
            <a:off x="8686804" y="4753777"/>
            <a:ext cx="426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23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3153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74"/>
          <p:cNvSpPr txBox="1">
            <a:spLocks noGrp="1"/>
          </p:cNvSpPr>
          <p:nvPr>
            <p:ph type="subTitle" idx="1"/>
          </p:nvPr>
        </p:nvSpPr>
        <p:spPr>
          <a:xfrm>
            <a:off x="2420025" y="2482263"/>
            <a:ext cx="4293900" cy="110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F4BB00"/>
                </a:solidFill>
                <a:latin typeface="Noto Serif Ethiopic"/>
                <a:ea typeface="Noto Serif Ethiopic"/>
                <a:cs typeface="Noto Serif Ethiopic"/>
                <a:sym typeface="Noto Serif Ethiopic"/>
              </a:rPr>
              <a:t>Do you have any questions?</a:t>
            </a:r>
            <a:endParaRPr sz="2400" dirty="0">
              <a:solidFill>
                <a:srgbClr val="F4BB00"/>
              </a:solidFill>
              <a:latin typeface="Noto Serif Ethiopic"/>
              <a:ea typeface="Noto Serif Ethiopic"/>
              <a:cs typeface="Noto Serif Ethiopic"/>
              <a:sym typeface="Noto Serif Ethiopic"/>
            </a:endParaRPr>
          </a:p>
        </p:txBody>
      </p:sp>
      <p:sp>
        <p:nvSpPr>
          <p:cNvPr id="923" name="Google Shape;923;p74"/>
          <p:cNvSpPr txBox="1">
            <a:spLocks noGrp="1"/>
          </p:cNvSpPr>
          <p:nvPr>
            <p:ph type="ctrTitle"/>
          </p:nvPr>
        </p:nvSpPr>
        <p:spPr>
          <a:xfrm>
            <a:off x="2429925" y="876038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4BB00"/>
                </a:solidFill>
              </a:rPr>
              <a:t>Thanks!</a:t>
            </a:r>
            <a:endParaRPr dirty="0">
              <a:solidFill>
                <a:srgbClr val="F4BB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ED2BEC-AACC-8026-B50A-9D38DBCF0A7B}"/>
              </a:ext>
            </a:extLst>
          </p:cNvPr>
          <p:cNvSpPr txBox="1"/>
          <p:nvPr/>
        </p:nvSpPr>
        <p:spPr>
          <a:xfrm>
            <a:off x="99064" y="4792025"/>
            <a:ext cx="5661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4BB00"/>
                </a:solidFill>
                <a:latin typeface="Aptos" panose="020B0004020202020204" pitchFamily="34" charset="0"/>
              </a:rPr>
              <a:t>Artificial Intelligence &amp; Data Science – ADD 416 (Project Phase 2)</a:t>
            </a:r>
            <a:endParaRPr lang="en-IN" sz="1200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03A9C4-35DC-F81D-CF46-9C89DBED57D7}"/>
              </a:ext>
            </a:extLst>
          </p:cNvPr>
          <p:cNvSpPr txBox="1"/>
          <p:nvPr/>
        </p:nvSpPr>
        <p:spPr>
          <a:xfrm>
            <a:off x="7117084" y="4752438"/>
            <a:ext cx="1501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05/02/2026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1456D-C3E7-9010-98F2-E5B2D089D4B9}"/>
              </a:ext>
            </a:extLst>
          </p:cNvPr>
          <p:cNvSpPr txBox="1"/>
          <p:nvPr/>
        </p:nvSpPr>
        <p:spPr>
          <a:xfrm>
            <a:off x="8686804" y="4753777"/>
            <a:ext cx="426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4BB00"/>
                </a:solidFill>
                <a:latin typeface="Aptos" panose="020B0004020202020204" pitchFamily="34" charset="0"/>
              </a:rPr>
              <a:t>24</a:t>
            </a:r>
            <a:endParaRPr lang="en-IN" dirty="0">
              <a:solidFill>
                <a:srgbClr val="F4BB00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ecutive Summary of Marketing Plan by Slidesgo">
  <a:themeElements>
    <a:clrScheme name="Simple Light">
      <a:dk1>
        <a:srgbClr val="FCFCFC"/>
      </a:dk1>
      <a:lt1>
        <a:srgbClr val="475339"/>
      </a:lt1>
      <a:dk2>
        <a:srgbClr val="303A24"/>
      </a:dk2>
      <a:lt2>
        <a:srgbClr val="99A28E"/>
      </a:lt2>
      <a:accent1>
        <a:srgbClr val="C4CFB7"/>
      </a:accent1>
      <a:accent2>
        <a:srgbClr val="B3CA9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CFC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1500</Words>
  <Application>Microsoft Office PowerPoint</Application>
  <PresentationFormat>On-screen Show (16:9)</PresentationFormat>
  <Paragraphs>382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Akatab</vt:lpstr>
      <vt:lpstr>Cambria Math</vt:lpstr>
      <vt:lpstr>Aptos</vt:lpstr>
      <vt:lpstr>Arial</vt:lpstr>
      <vt:lpstr>Noto Serif Ethiopic</vt:lpstr>
      <vt:lpstr>Wingdings</vt:lpstr>
      <vt:lpstr>Executive Summary of Marketing Plan by Slidesgo</vt:lpstr>
      <vt:lpstr>PowerPoint Presentation</vt:lpstr>
      <vt:lpstr>Our Team</vt:lpstr>
      <vt:lpstr>TABLE OF CONTENTS</vt:lpstr>
      <vt:lpstr>INTRODUCTION</vt:lpstr>
      <vt:lpstr>INTRODUCTION</vt:lpstr>
      <vt:lpstr>PROBLEM STATEMENT</vt:lpstr>
      <vt:lpstr>OBJECTIVES</vt:lpstr>
      <vt:lpstr>LITERATURE REVIEW/EXISTING SYSTEMS</vt:lpstr>
      <vt:lpstr>PROPOSED METHODOLOGY/SOLUTION</vt:lpstr>
      <vt:lpstr>PROPOSED METHODOLOGY/SOLUTION</vt:lpstr>
      <vt:lpstr>PROPOSED METHODOLOGY/SOLUTION</vt:lpstr>
      <vt:lpstr>TOOLS AND TECHNOLOGIES</vt:lpstr>
      <vt:lpstr>SCOPE OF THE PROJECT</vt:lpstr>
      <vt:lpstr>ARCHITECTURE</vt:lpstr>
      <vt:lpstr>GATING ALGORITHM</vt:lpstr>
      <vt:lpstr>THEORY OF EVALUATION</vt:lpstr>
      <vt:lpstr>EVALUATION CRITERIA</vt:lpstr>
      <vt:lpstr>EXPECTED OUTCOME</vt:lpstr>
      <vt:lpstr>RESULT AND DISCUSSION</vt:lpstr>
      <vt:lpstr>RESULT AND DISCUSSION</vt:lpstr>
      <vt:lpstr>CONCLUSION</vt:lpstr>
      <vt:lpstr>CHOSEN JOURNAL PAPER</vt:lpstr>
      <vt:lpstr>REFERENCES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Aaron Johns</dc:creator>
  <cp:lastModifiedBy>Pooja Shibu</cp:lastModifiedBy>
  <cp:revision>8</cp:revision>
  <dcterms:modified xsi:type="dcterms:W3CDTF">2026-02-05T07:03:53Z</dcterms:modified>
</cp:coreProperties>
</file>